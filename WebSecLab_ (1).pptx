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408830A-43B1-86CA-262F-55B45C264DB4}">
          <p14:sldIdLst>
            <p14:sldId id="256"/>
            <p14:sldId id="257"/>
          </p14:sldIdLst>
        </p14:section>
        <p14:section name="Problem &amp; Market" id="{311825DD-FA9B-60D9-C8A5-F9E9D62525E0}">
          <p14:sldIdLst>
            <p14:sldId id="258"/>
            <p14:sldId id="259"/>
          </p14:sldIdLst>
        </p14:section>
        <p14:section name="Solution" id="{93E16421-D343-BB09-376F-E7B3B860282B}">
          <p14:sldIdLst>
            <p14:sldId id="260"/>
            <p14:sldId id="261"/>
            <p14:sldId id="262"/>
            <p14:sldId id="263"/>
          </p14:sldIdLst>
        </p14:section>
        <p14:section name="Proof &amp; Pitch" id="{5A42FC97-32CF-64AE-3293-99B8E703399E}">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Vulnerable</c:v>
                </c:pt>
              </c:strCache>
            </c:strRef>
          </c:tx>
          <c:spPr>
            <a:solidFill>
              <a:srgbClr val="A42530"/>
            </a:solidFill>
          </c:spPr>
          <c:invertIfNegative val="1"/>
          <c:dLbls>
            <c:numFmt formatCode="0" sourceLinked="0"/>
            <c:spPr>
              <a:noFill/>
              <a:ln>
                <a:noFill/>
              </a:ln>
              <a:effectLst/>
            </c:spPr>
            <c:txPr>
              <a:bodyPr/>
              <a:lstStyle/>
              <a:p>
                <a:pPr>
                  <a:defRPr sz="11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SQLi</c:v>
                </c:pt>
                <c:pt idx="1">
                  <c:v>XSS</c:v>
                </c:pt>
                <c:pt idx="2">
                  <c:v>IDOR</c:v>
                </c:pt>
              </c:strCache>
            </c:strRef>
          </c:cat>
          <c:val>
            <c:numRef>
              <c:f>Sheet1!$B$2:$B$4</c:f>
              <c:numCache>
                <c:formatCode>General</c:formatCode>
                <c:ptCount val="3"/>
                <c:pt idx="0">
                  <c:v>100</c:v>
                </c:pt>
                <c:pt idx="1">
                  <c:v>90</c:v>
                </c:pt>
                <c:pt idx="2">
                  <c:v>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787-475B-A51C-8B24BFC0B21B}"/>
            </c:ext>
          </c:extLst>
        </c:ser>
        <c:ser>
          <c:idx val="1"/>
          <c:order val="1"/>
          <c:tx>
            <c:strRef>
              <c:f>Sheet1!$C$1</c:f>
              <c:strCache>
                <c:ptCount val="1"/>
                <c:pt idx="0">
                  <c:v>Safe</c:v>
                </c:pt>
              </c:strCache>
            </c:strRef>
          </c:tx>
          <c:spPr>
            <a:solidFill>
              <a:srgbClr val="1F5FAA"/>
            </a:solidFill>
          </c:spPr>
          <c:invertIfNegative val="1"/>
          <c:dLbls>
            <c:numFmt formatCode="0" sourceLinked="0"/>
            <c:spPr>
              <a:noFill/>
              <a:ln>
                <a:noFill/>
              </a:ln>
              <a:effectLst/>
            </c:spPr>
            <c:txPr>
              <a:bodyPr/>
              <a:lstStyle/>
              <a:p>
                <a:pPr>
                  <a:defRPr sz="11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SQLi</c:v>
                </c:pt>
                <c:pt idx="1">
                  <c:v>XSS</c:v>
                </c:pt>
                <c:pt idx="2">
                  <c:v>IDOR</c:v>
                </c:pt>
              </c:strCache>
            </c:strRef>
          </c:cat>
          <c:val>
            <c:numRef>
              <c:f>Sheet1!$C$2:$C$4</c:f>
              <c:numCache>
                <c:formatCode>General</c:formatCode>
                <c:ptCount val="3"/>
                <c:pt idx="0">
                  <c:v>85</c:v>
                </c:pt>
                <c:pt idx="1">
                  <c:v>75</c:v>
                </c:pt>
                <c:pt idx="2">
                  <c:v>80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7787-475B-A51C-8B24BFC0B21B}"/>
            </c:ext>
          </c:extLst>
        </c:ser>
        <c:dLbls>
          <c:dLblPos val="outEnd"/>
          <c:showLegendKey val="0"/>
          <c:showVal val="1"/>
          <c:showCatName val="0"/>
          <c:showSerName val="0"/>
          <c:showPercent val="0"/>
          <c:showBubbleSize val="0"/>
        </c:dLbls>
        <c:gapWidth val="60"/>
        <c:overlap val="-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4CE"/>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100"/>
          <c:min val="0"/>
        </c:scaling>
        <c:delete val="0"/>
        <c:axPos val="l"/>
        <c:majorGridlines>
          <c:spPr>
            <a:ln>
              <a:solidFill>
                <a:srgbClr val="D9D4CE"/>
              </a:solidFill>
            </a:ln>
          </c:spPr>
        </c:majorGridlines>
        <c:numFmt formatCode="General" sourceLinked="1"/>
        <c:majorTickMark val="out"/>
        <c:minorTickMark val="none"/>
        <c:tickLblPos val="nextTo"/>
        <c:spPr>
          <a:ln>
            <a:noFill/>
          </a:ln>
        </c:spPr>
        <c:txPr>
          <a:bodyPr/>
          <a:lstStyle/>
          <a:p>
            <a:pPr>
              <a:defRPr sz="1100">
                <a:solidFill>
                  <a:srgbClr val="5B6B7F"/>
                </a:solidFill>
              </a:defRPr>
            </a:pPr>
            <a:endParaRPr lang="en-US"/>
          </a:p>
        </c:txPr>
        <c:crossAx val="-2068027336"/>
        <c:crosses val="autoZero"/>
        <c:crossBetween val="between"/>
        <c:majorUnit val="25"/>
      </c:valAx>
    </c:plotArea>
    <c:legend>
      <c:legendPos val="b"/>
      <c:overlay val="0"/>
      <c:txPr>
        <a:bodyPr/>
        <a:lstStyle/>
        <a:p>
          <a:pPr>
            <a:defRPr sz="1100"/>
          </a:pPr>
          <a:endParaRPr lang="en-US"/>
        </a:p>
      </c:txPr>
    </c:legend>
    <c:plotVisOnly val="1"/>
    <c:dispBlanksAs val="gap"/>
    <c:showDLblsOverMax val="1"/>
  </c:chart>
  <c:txPr>
    <a:bodyPr/>
    <a:lstStyle/>
    <a:p>
      <a:pPr>
        <a:defRPr sz="11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0022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PRESENTER 1 · 0:00–0:25 (~25 s)</a:t>
            </a:r>
          </a:p>
          <a:p>
            <a:r>
              <a:t>Good morning. We are [team name], and this is WebSecLab — our Cyber Forensics and Laws honours project. Most security demos stop at showing a broken page. We built the other half: what the defender sees. Every attack in WebSecLab follows one loop — attack, detect, log, investigate, secure, and re-test — and we'll show that whole loop. Three of us will present: I'll cover the problem and architecture, [Presenter 2] the attacks, detection and hardening, and [Presenter 3] forensics and evidence.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PRESENTER 1 · 0:25–1:10 (~45 s)</a:t>
            </a:r>
          </a:p>
          <a:p>
            <a:r>
              <a:t>Web applications are routinely hit by injection attacks, unsafe handling of user input and broken access control. But exploiting a flaw is only part of the problem. Teams also have to notice it, record it and investigate it. Without reliable logs and evidence you can't reconstruct what happened or how bad it was — and you can't convince anyone else. So our objective: a controlled lab that shows how attacks happen, how they're detected, how controls stop them, and how forensic evidence is preserved and verified. The key outcome is the complete incident lifecycle in a single application.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PRESENTER 1 · 1:10–2:15 (~65 s)</a:t>
            </a:r>
          </a:p>
          <a:p>
            <a:r>
              <a:t>It's a Node.js and Express monolith with EJS templates, Bootstrap, Chart.js and PostgreSQL. A request flows left to right: browser, then the Express middleware — Helmet, sessions, CSRF — then the lab controllers, then the security monitor, which writes to PostgreSQL. Three design decisions matter for everything you'll see. First, the SAFE or VULNERABLE mode is a single database row, read on every request, never cached — an admin flips it and the very next request behaves differently. Second, detection runs only when the response finishes, so it can never change what the attacker sees; blocking happens in the controller, logging happens in the monitor. Third, the weakness is quarantined: only the three lab routes, and only in Vulnerable mode. Now I'll hand over to [Presenter 2] to show the three attacks.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PRESENTER 2 · 2:15–3:25 (~70 s)</a:t>
            </a:r>
          </a:p>
          <a:p>
            <a:r>
              <a:t>Thanks. There are three labs, and each has the same structure: the flaw, what happens in Vulnerable mode, and what changes in Safe mode. SQL injection: the search term is concatenated straight into the SQL string, so a crafted input can expose unreleased product records. Even then, the query runs on a least-privilege database role that can only read products. In Safe mode it's a parameterised query with server-side validation. Stored XSS: a comment is rendered as raw HTML with no escaping, and the content security policy is relaxed for that one route. In Safe mode the same comment is escaped and the strict policy is back. IDOR: a signed-in user changes a document ID in the URL and reads someone else's file, because the ownership check is missing. In Safe mode the owner is verified and the server answers 403. Same request, different mode, different outcome — that's the re-test.</a:t>
            </a:r>
          </a:p>
          <a:p>
            <a:r>
              <a:t>[Live demo option: replay one request in VULNERABLE then SAFE, if time allows.]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PRESENTER 2 · 3:25–4:25 (~60 s)</a:t>
            </a:r>
          </a:p>
          <a:p>
            <a:r>
              <a:t>Every request to a lab is evaluated by nine rule-based detectors: four for SQL injection — UNION SELECT, stacked queries, tautology and comment terminators; four for XSS — script tags, event handlers, JavaScript URIs and HTML injection; and one for IDOR, which fires when the signed-in user doesn't match the document owner. Each event records the attack type, the matched rule, endpoint, method, source IP, mode, HTTP status, a result — successful, neutralized, blocked or detected — and a severity. The risk score is deliberately simple and transparent: a base score per attack, plus five if it succeeded, plus five if the actor was authenticated, minus ten if it was blocked or neutralized, clamped to 0–100. The chart shows the same attack scoring 100 in Vulnerable mode and 85 in Safe mode. Two honesty points: this is our own educational score, not CVSS, and detection is regex-based — it is not a WAF and not AI.</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PRESENTER 2 · 4:25–5:10 (~45 s)</a:t>
            </a:r>
          </a:p>
          <a:p>
            <a:r>
              <a:t>The labs sit inside an otherwise hardened application. Authentication uses bcrypt password hashing, session regeneration on login and USER and ADMIN roles — only admins can flip the mode, investigate incidents or export evidence. Request protection comes from Helmet headers with a strict content security policy, CSRF tokens on every state-changing request, server-side validation with express-validator, and rate limiting on login and registration. At the database layer, safe mode uses parameterised queries, and the one intentionally vulnerable query runs on a separate least-privilege role that can read products but never touch the users table or write anything. So in Vulnerable mode we weaken only the specific control each lab needs. Over to [Presenter 3] for monitoring and forensics.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PRESENTER 3 · 5:10–6:30 (~80 s)</a:t>
            </a:r>
          </a:p>
          <a:p>
            <a:r>
              <a:t>Thanks. This is where the project becomes a forensics tool. Every number on the dashboard is a real database query — total requests, detected events, blocked and neutralized attacks, critical events, plus attack-distribution and time-series charts. The Security Events page lets an admin filter by attack type, severity and result, search, and click through to a single incident. That incident page shows a unique ID, the rule that matched, the risk score, the sanitized request, the response outcome, a mitigation recommendation and a timeline. From there the admin exports a JSON evidence package. The system computes a SHA-256 hash of the exact file bytes and writes the filename and hash into the incident's action log. Later, anyone can upload the file and we recompute the hash: if one byte changed, it shows a mismatch.</a:t>
            </a:r>
          </a:p>
          <a:p>
            <a:r>
              <a:t>Important limit: SHA-256 detects modification — it does not prove who created the file or give a full legal chain of custody. [Live demo option: open one incident, export, then verify the file.]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PRESENTER 3 · 6:30–7:40 (~70 s)</a:t>
            </a:r>
          </a:p>
          <a:p>
            <a:r>
              <a:t>We tested at three levels: 37 detector cases that include false-positive checks, 20 risk-score checks covering bands and boundaries, and a 26-check end-to-end acceptance suite that drives the real HTTP interface through attack, logging, investigation, export and Safe-mode re-test. We also include Burp Suite instructions for modifying and replaying requests. We want to be clear about limits: detection is regex-based and can be evaded, so this is not a WAF; the risk score is our own educational score, not CVSS; the app is built for local educational use, not production; and SHA-256 is integrity, not full chain of custody. Future scope: more vulnerability classes, richer detection rules, automated regression testing and stronger evidence provenance. To conclude: a security incident should not end when an attack is detected. It should be recorded, investigated, mitigated and verified. Thank you — we're happy to take questions.</a:t>
            </a:r>
          </a:p>
          <a:p>
            <a:r>
              <a:t>[Note: detector 37/37 and risk 20/20 were run on the source; the 26-check acceptance suite needs a configured PostgreSQL — run npm run test:acceptance before presenting.]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45936"/>
            <a:ext cx="12191695" cy="512064"/>
          </a:xfrm>
          <a:prstGeom prst="rect">
            <a:avLst/>
          </a:prstGeom>
          <a:solidFill>
            <a:schemeClr val="accent1"/>
          </a:solidFill>
          <a:ln/>
        </p:spPr>
      </p:sp>
      <p:sp>
        <p:nvSpPr>
          <p:cNvPr id="3" name="Shape 1"/>
          <p:cNvSpPr/>
          <p:nvPr/>
        </p:nvSpPr>
        <p:spPr>
          <a:xfrm>
            <a:off x="0" y="6053328"/>
            <a:ext cx="850392" cy="292608"/>
          </a:xfrm>
          <a:prstGeom prst="rect">
            <a:avLst/>
          </a:prstGeom>
          <a:solidFill>
            <a:schemeClr val="accent1"/>
          </a:solidFill>
          <a:ln/>
        </p:spPr>
      </p:sp>
      <p:sp>
        <p:nvSpPr>
          <p:cNvPr id="4" name="Shape 2"/>
          <p:cNvSpPr/>
          <p:nvPr/>
        </p:nvSpPr>
        <p:spPr>
          <a:xfrm>
            <a:off x="10168128" y="6345936"/>
            <a:ext cx="2023567" cy="512064"/>
          </a:xfrm>
          <a:prstGeom prst="rect">
            <a:avLst/>
          </a:prstGeom>
          <a:solidFill>
            <a:schemeClr val="accent5"/>
          </a:solidFill>
          <a:ln/>
        </p:spPr>
      </p:sp>
      <p:pic>
        <p:nvPicPr>
          <p:cNvPr id="5" name="Image 0" descr="Somaiya Vidyavihar University logo"/>
          <p:cNvPicPr>
            <a:picLocks noChangeAspect="1"/>
          </p:cNvPicPr>
          <p:nvPr/>
        </p:nvPicPr>
        <p:blipFill>
          <a:blip r:embed="rId2"/>
          <a:stretch>
            <a:fillRect/>
          </a:stretch>
        </p:blipFill>
        <p:spPr>
          <a:xfrm>
            <a:off x="274320" y="137160"/>
            <a:ext cx="2331720" cy="713232"/>
          </a:xfrm>
          <a:prstGeom prst="rect">
            <a:avLst/>
          </a:prstGeom>
        </p:spPr>
      </p:pic>
      <p:pic>
        <p:nvPicPr>
          <p:cNvPr id="6" name="Image 1" descr="Somaiya Trust logo"/>
          <p:cNvPicPr>
            <a:picLocks noChangeAspect="1"/>
          </p:cNvPicPr>
          <p:nvPr/>
        </p:nvPicPr>
        <p:blipFill>
          <a:blip r:embed="rId3"/>
          <a:stretch>
            <a:fillRect/>
          </a:stretch>
        </p:blipFill>
        <p:spPr>
          <a:xfrm>
            <a:off x="11155680" y="201168"/>
            <a:ext cx="749808" cy="557784"/>
          </a:xfrm>
          <a:prstGeom prst="rect">
            <a:avLst/>
          </a:prstGeom>
        </p:spPr>
      </p:pic>
      <p:sp>
        <p:nvSpPr>
          <p:cNvPr id="7" name="Text 3"/>
          <p:cNvSpPr>
            <a:spLocks noGrp="1"/>
          </p:cNvSpPr>
          <p:nvPr>
            <p:ph type="body" idx="105" hasCustomPrompt="1"/>
          </p:nvPr>
        </p:nvSpPr>
        <p:spPr>
          <a:xfrm>
            <a:off x="548640" y="914400"/>
            <a:ext cx="8686800" cy="274320"/>
          </a:xfrm>
          <a:prstGeom prst="rect">
            <a:avLst/>
          </a:prstGeom>
          <a:noFill/>
          <a:ln/>
        </p:spPr>
        <p:txBody>
          <a:bodyPr wrap="square" rtlCol="0"/>
          <a:lstStyle>
            <a:lvl1pPr marL="0" indent="0">
              <a:buNone/>
              <a:defRPr lang="en-US" sz="1200" b="1" kern="0" spc="100" dirty="0">
                <a:solidFill>
                  <a:schemeClr val="accent1"/>
                </a:solidFill>
              </a:defRPr>
            </a:lvl1pPr>
          </a:lstStyle>
          <a:p>
            <a:pPr marL="0" indent="0">
              <a:buNone/>
            </a:pPr>
            <a:endParaRPr lang="en-US" sz="1200" dirty="0"/>
          </a:p>
        </p:txBody>
      </p:sp>
      <p:sp>
        <p:nvSpPr>
          <p:cNvPr id="8" name="Text 3"/>
          <p:cNvSpPr>
            <a:spLocks noGrp="1"/>
          </p:cNvSpPr>
          <p:nvPr>
            <p:ph type="title" idx="106" hasCustomPrompt="1"/>
          </p:nvPr>
        </p:nvSpPr>
        <p:spPr>
          <a:xfrm>
            <a:off x="548640" y="1188720"/>
            <a:ext cx="11064240" cy="54864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247120" y="59893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1"/>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RAM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45936"/>
            <a:ext cx="12191695" cy="512064"/>
          </a:xfrm>
          <a:prstGeom prst="rect">
            <a:avLst/>
          </a:prstGeom>
          <a:solidFill>
            <a:schemeClr val="accent1"/>
          </a:solidFill>
          <a:ln/>
        </p:spPr>
      </p:sp>
      <p:sp>
        <p:nvSpPr>
          <p:cNvPr id="3" name="Shape 1"/>
          <p:cNvSpPr/>
          <p:nvPr/>
        </p:nvSpPr>
        <p:spPr>
          <a:xfrm>
            <a:off x="0" y="6053328"/>
            <a:ext cx="850392" cy="292608"/>
          </a:xfrm>
          <a:prstGeom prst="rect">
            <a:avLst/>
          </a:prstGeom>
          <a:solidFill>
            <a:schemeClr val="accent1"/>
          </a:solidFill>
          <a:ln/>
        </p:spPr>
      </p:sp>
      <p:sp>
        <p:nvSpPr>
          <p:cNvPr id="4" name="Shape 2"/>
          <p:cNvSpPr/>
          <p:nvPr/>
        </p:nvSpPr>
        <p:spPr>
          <a:xfrm>
            <a:off x="10168128" y="6345936"/>
            <a:ext cx="2023567" cy="512064"/>
          </a:xfrm>
          <a:prstGeom prst="rect">
            <a:avLst/>
          </a:prstGeom>
          <a:solidFill>
            <a:schemeClr val="accent5"/>
          </a:solidFill>
          <a:ln/>
        </p:spPr>
      </p:sp>
      <p:pic>
        <p:nvPicPr>
          <p:cNvPr id="5" name="Image 0" descr="Somaiya Vidyavihar University logo"/>
          <p:cNvPicPr>
            <a:picLocks noChangeAspect="1"/>
          </p:cNvPicPr>
          <p:nvPr/>
        </p:nvPicPr>
        <p:blipFill>
          <a:blip r:embed="rId2"/>
          <a:stretch>
            <a:fillRect/>
          </a:stretch>
        </p:blipFill>
        <p:spPr>
          <a:xfrm>
            <a:off x="274320" y="137160"/>
            <a:ext cx="2331720" cy="713232"/>
          </a:xfrm>
          <a:prstGeom prst="rect">
            <a:avLst/>
          </a:prstGeom>
        </p:spPr>
      </p:pic>
      <p:pic>
        <p:nvPicPr>
          <p:cNvPr id="6" name="Image 1" descr="Somaiya Trust logo"/>
          <p:cNvPicPr>
            <a:picLocks noChangeAspect="1"/>
          </p:cNvPicPr>
          <p:nvPr/>
        </p:nvPicPr>
        <p:blipFill>
          <a:blip r:embed="rId3"/>
          <a:stretch>
            <a:fillRect/>
          </a:stretch>
        </p:blipFill>
        <p:spPr>
          <a:xfrm>
            <a:off x="11155680" y="201168"/>
            <a:ext cx="749808" cy="557784"/>
          </a:xfrm>
          <a:prstGeom prst="rect">
            <a:avLst/>
          </a:prstGeom>
        </p:spPr>
      </p:pic>
      <p:sp>
        <p:nvSpPr>
          <p:cNvPr id="25" name="Slide Number Placeholder 0"/>
          <p:cNvSpPr>
            <a:spLocks noGrp="1"/>
          </p:cNvSpPr>
          <p:nvPr>
            <p:ph type="sldNum" sz="quarter" idx="4294967295"/>
          </p:nvPr>
        </p:nvSpPr>
        <p:spPr>
          <a:xfrm>
            <a:off x="11247120" y="59893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1"/>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59893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1"/>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rd"/>
          <p:cNvSpPr/>
          <p:nvPr/>
        </p:nvSpPr>
        <p:spPr>
          <a:xfrm>
            <a:off x="548640" y="1051560"/>
            <a:ext cx="6126480" cy="640080"/>
          </a:xfrm>
          <a:prstGeom prst="roundRect">
            <a:avLst>
              <a:gd name="adj" fmla="val 16000"/>
            </a:avLst>
          </a:prstGeom>
          <a:solidFill>
            <a:srgbClr val="F6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263878"/>
            <a:ext cx="5852160" cy="215444"/>
          </a:xfrm>
          <a:prstGeom prst="rect">
            <a:avLst/>
          </a:prstGeom>
          <a:noFill/>
        </p:spPr>
        <p:txBody>
          <a:bodyPr wrap="square" lIns="0" tIns="0" rIns="0" bIns="0" anchor="ctr">
            <a:spAutoFit/>
          </a:bodyPr>
          <a:lstStyle/>
          <a:p>
            <a:pPr algn="l">
              <a:spcAft>
                <a:spcPts val="300"/>
              </a:spcAft>
            </a:pPr>
            <a:r>
              <a:rPr sz="1400" b="1" i="0" dirty="0">
                <a:solidFill>
                  <a:srgbClr val="A42530"/>
                </a:solidFill>
              </a:rPr>
              <a:t>CYBER FORENSICS &amp; LAWS</a:t>
            </a:r>
          </a:p>
        </p:txBody>
      </p:sp>
      <p:sp>
        <p:nvSpPr>
          <p:cNvPr id="4" name="title"/>
          <p:cNvSpPr txBox="1"/>
          <p:nvPr/>
        </p:nvSpPr>
        <p:spPr>
          <a:xfrm>
            <a:off x="502920" y="1874519"/>
            <a:ext cx="6217920" cy="1051560"/>
          </a:xfrm>
          <a:prstGeom prst="rect">
            <a:avLst/>
          </a:prstGeom>
          <a:noFill/>
        </p:spPr>
        <p:txBody>
          <a:bodyPr wrap="square" lIns="0" tIns="0" rIns="0" bIns="0" anchor="ctr">
            <a:spAutoFit/>
          </a:bodyPr>
          <a:lstStyle/>
          <a:p>
            <a:pPr algn="l">
              <a:spcAft>
                <a:spcPts val="300"/>
              </a:spcAft>
            </a:pPr>
            <a:r>
              <a:rPr sz="7200" b="1" i="0" dirty="0" err="1">
                <a:solidFill>
                  <a:srgbClr val="1F5FAA"/>
                </a:solidFill>
              </a:rPr>
              <a:t>Web</a:t>
            </a:r>
            <a:r>
              <a:rPr sz="7200" b="1" i="0" dirty="0" err="1">
                <a:solidFill>
                  <a:srgbClr val="A42530"/>
                </a:solidFill>
              </a:rPr>
              <a:t>SecLab</a:t>
            </a:r>
            <a:endParaRPr sz="7200" b="1" i="0" dirty="0">
              <a:solidFill>
                <a:srgbClr val="A42530"/>
              </a:solidFill>
            </a:endParaRPr>
          </a:p>
        </p:txBody>
      </p:sp>
      <p:sp>
        <p:nvSpPr>
          <p:cNvPr id="5" name="TextBox 4"/>
          <p:cNvSpPr txBox="1"/>
          <p:nvPr/>
        </p:nvSpPr>
        <p:spPr>
          <a:xfrm>
            <a:off x="548640" y="3017520"/>
            <a:ext cx="6217920" cy="822960"/>
          </a:xfrm>
          <a:prstGeom prst="rect">
            <a:avLst/>
          </a:prstGeom>
          <a:noFill/>
        </p:spPr>
        <p:txBody>
          <a:bodyPr wrap="square" lIns="0" tIns="0" rIns="0" bIns="0" anchor="t">
            <a:spAutoFit/>
          </a:bodyPr>
          <a:lstStyle/>
          <a:p>
            <a:pPr algn="l">
              <a:spcAft>
                <a:spcPts val="300"/>
              </a:spcAft>
            </a:pPr>
            <a:r>
              <a:rPr sz="2400" b="1" i="0">
                <a:solidFill>
                  <a:srgbClr val="1A1A1A"/>
                </a:solidFill>
              </a:rPr>
              <a:t>Web attack detection, prevention and forensic analysis platform</a:t>
            </a:r>
          </a:p>
        </p:txBody>
      </p:sp>
      <p:cxnSp>
        <p:nvCxnSpPr>
          <p:cNvPr id="6" name="Connector 5"/>
          <p:cNvCxnSpPr/>
          <p:nvPr/>
        </p:nvCxnSpPr>
        <p:spPr>
          <a:xfrm>
            <a:off x="548640" y="3977639"/>
            <a:ext cx="0" cy="548641"/>
          </a:xfrm>
          <a:prstGeom prst="line">
            <a:avLst/>
          </a:prstGeom>
          <a:ln w="19050">
            <a:solidFill>
              <a:srgbClr val="A4253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977639"/>
            <a:ext cx="5852160" cy="548640"/>
          </a:xfrm>
          <a:prstGeom prst="rect">
            <a:avLst/>
          </a:prstGeom>
          <a:noFill/>
        </p:spPr>
        <p:txBody>
          <a:bodyPr wrap="square" lIns="0" tIns="0" rIns="0" bIns="0" anchor="ctr">
            <a:spAutoFit/>
          </a:bodyPr>
          <a:lstStyle/>
          <a:p>
            <a:pPr algn="l">
              <a:spcAft>
                <a:spcPts val="200"/>
              </a:spcAft>
            </a:pPr>
            <a:r>
              <a:rPr sz="1500" b="1" i="0">
                <a:solidFill>
                  <a:srgbClr val="1A1A1A"/>
                </a:solidFill>
              </a:rPr>
              <a:t>Attack. Detect. Investigate. Prove. Re-test.</a:t>
            </a:r>
          </a:p>
          <a:p>
            <a:pPr algn="l">
              <a:spcAft>
                <a:spcPts val="200"/>
              </a:spcAft>
            </a:pPr>
            <a:r>
              <a:rPr sz="1300" b="0" i="0">
                <a:solidFill>
                  <a:srgbClr val="5B6B7F"/>
                </a:solidFill>
              </a:rPr>
              <a:t>Not just a vulnerable page — the defender’s view too.</a:t>
            </a:r>
          </a:p>
        </p:txBody>
      </p:sp>
      <p:sp>
        <p:nvSpPr>
          <p:cNvPr id="8" name="TextBox 7"/>
          <p:cNvSpPr txBox="1"/>
          <p:nvPr/>
        </p:nvSpPr>
        <p:spPr>
          <a:xfrm>
            <a:off x="548640" y="4614918"/>
            <a:ext cx="6217920" cy="369332"/>
          </a:xfrm>
          <a:prstGeom prst="rect">
            <a:avLst/>
          </a:prstGeom>
          <a:noFill/>
        </p:spPr>
        <p:txBody>
          <a:bodyPr wrap="square" lIns="0" tIns="0" rIns="0" bIns="0" anchor="t">
            <a:spAutoFit/>
          </a:bodyPr>
          <a:lstStyle/>
          <a:p>
            <a:pPr algn="l">
              <a:spcAft>
                <a:spcPts val="0"/>
              </a:spcAft>
            </a:pPr>
            <a:r>
              <a:rPr sz="1200" b="1" i="0" dirty="0"/>
              <a:t>Dept. of Computer Engineering</a:t>
            </a:r>
          </a:p>
          <a:p>
            <a:pPr algn="l">
              <a:spcAft>
                <a:spcPts val="0"/>
              </a:spcAft>
            </a:pPr>
            <a:r>
              <a:rPr sz="1200" b="1" i="0" dirty="0"/>
              <a:t>K J Somaiya School of Engineering, Somaiya </a:t>
            </a:r>
            <a:r>
              <a:rPr sz="1200" b="1" i="0" dirty="0" err="1"/>
              <a:t>Vidyavihar</a:t>
            </a:r>
            <a:r>
              <a:rPr sz="1200" b="1" i="0" dirty="0"/>
              <a:t> University</a:t>
            </a:r>
          </a:p>
        </p:txBody>
      </p:sp>
      <p:sp>
        <p:nvSpPr>
          <p:cNvPr id="15" name="frame"/>
          <p:cNvSpPr/>
          <p:nvPr/>
        </p:nvSpPr>
        <p:spPr>
          <a:xfrm>
            <a:off x="7040880" y="1051560"/>
            <a:ext cx="4599432" cy="4754880"/>
          </a:xfrm>
          <a:prstGeom prst="roundRect">
            <a:avLst>
              <a:gd name="adj" fmla="val 4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69480" y="1143000"/>
            <a:ext cx="4114800" cy="320040"/>
          </a:xfrm>
          <a:prstGeom prst="rect">
            <a:avLst/>
          </a:prstGeom>
          <a:noFill/>
        </p:spPr>
        <p:txBody>
          <a:bodyPr wrap="square" lIns="0" tIns="0" rIns="0" bIns="0" anchor="ctr">
            <a:spAutoFit/>
          </a:bodyPr>
          <a:lstStyle/>
          <a:p>
            <a:pPr algn="l">
              <a:spcAft>
                <a:spcPts val="300"/>
              </a:spcAft>
            </a:pPr>
            <a:r>
              <a:rPr sz="1100" b="1" i="0">
                <a:solidFill>
                  <a:srgbClr val="5B6B7F"/>
                </a:solidFill>
              </a:rPr>
              <a:t>THE INCIDENT LIFECYCLE, IN ONE APP</a:t>
            </a:r>
          </a:p>
        </p:txBody>
      </p:sp>
      <p:sp>
        <p:nvSpPr>
          <p:cNvPr id="17" name="Rounded Rectangle 16"/>
          <p:cNvSpPr/>
          <p:nvPr/>
        </p:nvSpPr>
        <p:spPr>
          <a:xfrm>
            <a:off x="7269480" y="1554480"/>
            <a:ext cx="4142232" cy="603504"/>
          </a:xfrm>
          <a:prstGeom prst="roundRect">
            <a:avLst>
              <a:gd name="adj" fmla="val 14000"/>
            </a:avLst>
          </a:prstGeom>
          <a:solidFill>
            <a:srgbClr val="FFFFFF"/>
          </a:solidFill>
          <a:ln w="12700">
            <a:solidFill>
              <a:srgbClr val="D9D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388352" y="1655064"/>
            <a:ext cx="402336" cy="402336"/>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rPr>
              <a:t>1</a:t>
            </a:r>
          </a:p>
        </p:txBody>
      </p:sp>
      <p:sp>
        <p:nvSpPr>
          <p:cNvPr id="19" name="TextBox 18"/>
          <p:cNvSpPr txBox="1"/>
          <p:nvPr/>
        </p:nvSpPr>
        <p:spPr>
          <a:xfrm>
            <a:off x="7936992" y="1591056"/>
            <a:ext cx="3383280" cy="274320"/>
          </a:xfrm>
          <a:prstGeom prst="rect">
            <a:avLst/>
          </a:prstGeom>
          <a:noFill/>
        </p:spPr>
        <p:txBody>
          <a:bodyPr wrap="square" lIns="0" tIns="0" rIns="0" bIns="0" anchor="ctr">
            <a:spAutoFit/>
          </a:bodyPr>
          <a:lstStyle/>
          <a:p>
            <a:pPr algn="l">
              <a:spcAft>
                <a:spcPts val="300"/>
              </a:spcAft>
            </a:pPr>
            <a:r>
              <a:rPr sz="1400" b="1" i="0">
                <a:solidFill>
                  <a:srgbClr val="1A1A1A"/>
                </a:solidFill>
              </a:rPr>
              <a:t>Attack</a:t>
            </a:r>
          </a:p>
        </p:txBody>
      </p:sp>
      <p:sp>
        <p:nvSpPr>
          <p:cNvPr id="20" name="TextBox 19"/>
          <p:cNvSpPr txBox="1"/>
          <p:nvPr/>
        </p:nvSpPr>
        <p:spPr>
          <a:xfrm>
            <a:off x="7936992" y="1865376"/>
            <a:ext cx="3383280" cy="256032"/>
          </a:xfrm>
          <a:prstGeom prst="rect">
            <a:avLst/>
          </a:prstGeom>
          <a:noFill/>
        </p:spPr>
        <p:txBody>
          <a:bodyPr wrap="square" lIns="0" tIns="0" rIns="0" bIns="0" anchor="ctr">
            <a:spAutoFit/>
          </a:bodyPr>
          <a:lstStyle/>
          <a:p>
            <a:pPr algn="l">
              <a:spcAft>
                <a:spcPts val="300"/>
              </a:spcAft>
            </a:pPr>
            <a:r>
              <a:rPr sz="1150" b="0" i="0">
                <a:solidFill>
                  <a:srgbClr val="5B6B7F"/>
                </a:solidFill>
              </a:rPr>
              <a:t>SQL injection · XSS · IDOR in a local lab</a:t>
            </a:r>
          </a:p>
        </p:txBody>
      </p:sp>
      <p:sp>
        <p:nvSpPr>
          <p:cNvPr id="21" name="Rounded Rectangle 20"/>
          <p:cNvSpPr/>
          <p:nvPr/>
        </p:nvSpPr>
        <p:spPr>
          <a:xfrm>
            <a:off x="7269480" y="2258568"/>
            <a:ext cx="4142232" cy="603504"/>
          </a:xfrm>
          <a:prstGeom prst="roundRect">
            <a:avLst>
              <a:gd name="adj" fmla="val 14000"/>
            </a:avLst>
          </a:prstGeom>
          <a:solidFill>
            <a:srgbClr val="FFFFFF"/>
          </a:solidFill>
          <a:ln w="12700">
            <a:solidFill>
              <a:srgbClr val="D9D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388352" y="2359151"/>
            <a:ext cx="402336" cy="402336"/>
          </a:xfrm>
          <a:prstGeom prst="ellipse">
            <a:avLst/>
          </a:prstGeom>
          <a:solidFill>
            <a:srgbClr val="1F5FA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rPr>
              <a:t>2</a:t>
            </a:r>
          </a:p>
        </p:txBody>
      </p:sp>
      <p:sp>
        <p:nvSpPr>
          <p:cNvPr id="23" name="TextBox 22"/>
          <p:cNvSpPr txBox="1"/>
          <p:nvPr/>
        </p:nvSpPr>
        <p:spPr>
          <a:xfrm>
            <a:off x="7936992" y="2295144"/>
            <a:ext cx="3383280" cy="274320"/>
          </a:xfrm>
          <a:prstGeom prst="rect">
            <a:avLst/>
          </a:prstGeom>
          <a:noFill/>
        </p:spPr>
        <p:txBody>
          <a:bodyPr wrap="square" lIns="0" tIns="0" rIns="0" bIns="0" anchor="ctr">
            <a:spAutoFit/>
          </a:bodyPr>
          <a:lstStyle/>
          <a:p>
            <a:pPr algn="l">
              <a:spcAft>
                <a:spcPts val="300"/>
              </a:spcAft>
            </a:pPr>
            <a:r>
              <a:rPr sz="1400" b="1" i="0">
                <a:solidFill>
                  <a:srgbClr val="1A1A1A"/>
                </a:solidFill>
              </a:rPr>
              <a:t>Detect</a:t>
            </a:r>
          </a:p>
        </p:txBody>
      </p:sp>
      <p:sp>
        <p:nvSpPr>
          <p:cNvPr id="24" name="TextBox 23"/>
          <p:cNvSpPr txBox="1"/>
          <p:nvPr/>
        </p:nvSpPr>
        <p:spPr>
          <a:xfrm>
            <a:off x="7936992" y="2569463"/>
            <a:ext cx="3383280" cy="256032"/>
          </a:xfrm>
          <a:prstGeom prst="rect">
            <a:avLst/>
          </a:prstGeom>
          <a:noFill/>
        </p:spPr>
        <p:txBody>
          <a:bodyPr wrap="square" lIns="0" tIns="0" rIns="0" bIns="0" anchor="ctr">
            <a:spAutoFit/>
          </a:bodyPr>
          <a:lstStyle/>
          <a:p>
            <a:pPr algn="l">
              <a:spcAft>
                <a:spcPts val="300"/>
              </a:spcAft>
            </a:pPr>
            <a:r>
              <a:rPr sz="1150" b="0" i="0">
                <a:solidFill>
                  <a:srgbClr val="5B6B7F"/>
                </a:solidFill>
              </a:rPr>
              <a:t>9 rules · severity · risk score</a:t>
            </a:r>
          </a:p>
        </p:txBody>
      </p:sp>
      <p:sp>
        <p:nvSpPr>
          <p:cNvPr id="25" name="Rounded Rectangle 24"/>
          <p:cNvSpPr/>
          <p:nvPr/>
        </p:nvSpPr>
        <p:spPr>
          <a:xfrm>
            <a:off x="7269480" y="2962656"/>
            <a:ext cx="4142232" cy="603504"/>
          </a:xfrm>
          <a:prstGeom prst="roundRect">
            <a:avLst>
              <a:gd name="adj" fmla="val 14000"/>
            </a:avLst>
          </a:prstGeom>
          <a:solidFill>
            <a:srgbClr val="FFFFFF"/>
          </a:solidFill>
          <a:ln w="12700">
            <a:solidFill>
              <a:srgbClr val="D9D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388352" y="3063240"/>
            <a:ext cx="402336" cy="402336"/>
          </a:xfrm>
          <a:prstGeom prst="ellipse">
            <a:avLst/>
          </a:prstGeom>
          <a:solidFill>
            <a:srgbClr val="1F5FA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rPr>
              <a:t>3</a:t>
            </a:r>
          </a:p>
        </p:txBody>
      </p:sp>
      <p:sp>
        <p:nvSpPr>
          <p:cNvPr id="27" name="TextBox 26"/>
          <p:cNvSpPr txBox="1"/>
          <p:nvPr/>
        </p:nvSpPr>
        <p:spPr>
          <a:xfrm>
            <a:off x="7936992" y="2999232"/>
            <a:ext cx="3383280" cy="274320"/>
          </a:xfrm>
          <a:prstGeom prst="rect">
            <a:avLst/>
          </a:prstGeom>
          <a:noFill/>
        </p:spPr>
        <p:txBody>
          <a:bodyPr wrap="square" lIns="0" tIns="0" rIns="0" bIns="0" anchor="ctr">
            <a:spAutoFit/>
          </a:bodyPr>
          <a:lstStyle/>
          <a:p>
            <a:pPr algn="l">
              <a:spcAft>
                <a:spcPts val="300"/>
              </a:spcAft>
            </a:pPr>
            <a:r>
              <a:rPr sz="1400" b="1" i="0">
                <a:solidFill>
                  <a:srgbClr val="1A1A1A"/>
                </a:solidFill>
              </a:rPr>
              <a:t>Log</a:t>
            </a:r>
          </a:p>
        </p:txBody>
      </p:sp>
      <p:sp>
        <p:nvSpPr>
          <p:cNvPr id="28" name="TextBox 27"/>
          <p:cNvSpPr txBox="1"/>
          <p:nvPr/>
        </p:nvSpPr>
        <p:spPr>
          <a:xfrm>
            <a:off x="7936992" y="3273552"/>
            <a:ext cx="3383280" cy="256032"/>
          </a:xfrm>
          <a:prstGeom prst="rect">
            <a:avLst/>
          </a:prstGeom>
          <a:noFill/>
        </p:spPr>
        <p:txBody>
          <a:bodyPr wrap="square" lIns="0" tIns="0" rIns="0" bIns="0" anchor="ctr">
            <a:spAutoFit/>
          </a:bodyPr>
          <a:lstStyle/>
          <a:p>
            <a:pPr algn="l">
              <a:spcAft>
                <a:spcPts val="300"/>
              </a:spcAft>
            </a:pPr>
            <a:r>
              <a:rPr sz="1150" b="0" i="0">
                <a:solidFill>
                  <a:srgbClr val="5B6B7F"/>
                </a:solidFill>
              </a:rPr>
              <a:t>Events saved in PostgreSQL</a:t>
            </a:r>
          </a:p>
        </p:txBody>
      </p:sp>
      <p:sp>
        <p:nvSpPr>
          <p:cNvPr id="29" name="Rounded Rectangle 28"/>
          <p:cNvSpPr/>
          <p:nvPr/>
        </p:nvSpPr>
        <p:spPr>
          <a:xfrm>
            <a:off x="7269480" y="3666744"/>
            <a:ext cx="4142232" cy="603504"/>
          </a:xfrm>
          <a:prstGeom prst="roundRect">
            <a:avLst>
              <a:gd name="adj" fmla="val 14000"/>
            </a:avLst>
          </a:prstGeom>
          <a:solidFill>
            <a:srgbClr val="FFFFFF"/>
          </a:solidFill>
          <a:ln w="12700">
            <a:solidFill>
              <a:srgbClr val="D9D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388352" y="3767328"/>
            <a:ext cx="402336" cy="402336"/>
          </a:xfrm>
          <a:prstGeom prst="ellipse">
            <a:avLst/>
          </a:prstGeom>
          <a:solidFill>
            <a:srgbClr val="3E7D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rPr>
              <a:t>4</a:t>
            </a:r>
          </a:p>
        </p:txBody>
      </p:sp>
      <p:sp>
        <p:nvSpPr>
          <p:cNvPr id="31" name="TextBox 30"/>
          <p:cNvSpPr txBox="1"/>
          <p:nvPr/>
        </p:nvSpPr>
        <p:spPr>
          <a:xfrm>
            <a:off x="7936992" y="3703320"/>
            <a:ext cx="3383280" cy="274320"/>
          </a:xfrm>
          <a:prstGeom prst="rect">
            <a:avLst/>
          </a:prstGeom>
          <a:noFill/>
        </p:spPr>
        <p:txBody>
          <a:bodyPr wrap="square" lIns="0" tIns="0" rIns="0" bIns="0" anchor="ctr">
            <a:spAutoFit/>
          </a:bodyPr>
          <a:lstStyle/>
          <a:p>
            <a:pPr algn="l">
              <a:spcAft>
                <a:spcPts val="300"/>
              </a:spcAft>
            </a:pPr>
            <a:r>
              <a:rPr sz="1400" b="1" i="0">
                <a:solidFill>
                  <a:srgbClr val="1A1A1A"/>
                </a:solidFill>
              </a:rPr>
              <a:t>Investigate</a:t>
            </a:r>
          </a:p>
        </p:txBody>
      </p:sp>
      <p:sp>
        <p:nvSpPr>
          <p:cNvPr id="32" name="TextBox 31"/>
          <p:cNvSpPr txBox="1"/>
          <p:nvPr/>
        </p:nvSpPr>
        <p:spPr>
          <a:xfrm>
            <a:off x="7936992" y="3977639"/>
            <a:ext cx="3383280" cy="256032"/>
          </a:xfrm>
          <a:prstGeom prst="rect">
            <a:avLst/>
          </a:prstGeom>
          <a:noFill/>
        </p:spPr>
        <p:txBody>
          <a:bodyPr wrap="square" lIns="0" tIns="0" rIns="0" bIns="0" anchor="ctr">
            <a:spAutoFit/>
          </a:bodyPr>
          <a:lstStyle/>
          <a:p>
            <a:pPr algn="l">
              <a:spcAft>
                <a:spcPts val="300"/>
              </a:spcAft>
            </a:pPr>
            <a:r>
              <a:rPr sz="1150" b="0" i="0">
                <a:solidFill>
                  <a:srgbClr val="5B6B7F"/>
                </a:solidFill>
              </a:rPr>
              <a:t>Timeline · evidence · mitigation</a:t>
            </a:r>
          </a:p>
        </p:txBody>
      </p:sp>
      <p:sp>
        <p:nvSpPr>
          <p:cNvPr id="33" name="Rounded Rectangle 32"/>
          <p:cNvSpPr/>
          <p:nvPr/>
        </p:nvSpPr>
        <p:spPr>
          <a:xfrm>
            <a:off x="7269480" y="4370832"/>
            <a:ext cx="4142232" cy="603504"/>
          </a:xfrm>
          <a:prstGeom prst="roundRect">
            <a:avLst>
              <a:gd name="adj" fmla="val 14000"/>
            </a:avLst>
          </a:prstGeom>
          <a:solidFill>
            <a:srgbClr val="FFFFFF"/>
          </a:solidFill>
          <a:ln w="12700">
            <a:solidFill>
              <a:srgbClr val="D9D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7388352" y="4471416"/>
            <a:ext cx="402336" cy="402336"/>
          </a:xfrm>
          <a:prstGeom prst="ellipse">
            <a:avLst/>
          </a:prstGeom>
          <a:solidFill>
            <a:srgbClr val="3E7D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rPr>
              <a:t>5</a:t>
            </a:r>
          </a:p>
        </p:txBody>
      </p:sp>
      <p:sp>
        <p:nvSpPr>
          <p:cNvPr id="35" name="TextBox 34"/>
          <p:cNvSpPr txBox="1"/>
          <p:nvPr/>
        </p:nvSpPr>
        <p:spPr>
          <a:xfrm>
            <a:off x="7936992" y="4407408"/>
            <a:ext cx="3383280" cy="274320"/>
          </a:xfrm>
          <a:prstGeom prst="rect">
            <a:avLst/>
          </a:prstGeom>
          <a:noFill/>
        </p:spPr>
        <p:txBody>
          <a:bodyPr wrap="square" lIns="0" tIns="0" rIns="0" bIns="0" anchor="ctr">
            <a:spAutoFit/>
          </a:bodyPr>
          <a:lstStyle/>
          <a:p>
            <a:pPr algn="l">
              <a:spcAft>
                <a:spcPts val="300"/>
              </a:spcAft>
            </a:pPr>
            <a:r>
              <a:rPr sz="1400" b="1" i="0">
                <a:solidFill>
                  <a:srgbClr val="1A1A1A"/>
                </a:solidFill>
              </a:rPr>
              <a:t>Secure</a:t>
            </a:r>
          </a:p>
        </p:txBody>
      </p:sp>
      <p:sp>
        <p:nvSpPr>
          <p:cNvPr id="36" name="TextBox 35"/>
          <p:cNvSpPr txBox="1"/>
          <p:nvPr/>
        </p:nvSpPr>
        <p:spPr>
          <a:xfrm>
            <a:off x="7936992" y="4681728"/>
            <a:ext cx="3383280" cy="256032"/>
          </a:xfrm>
          <a:prstGeom prst="rect">
            <a:avLst/>
          </a:prstGeom>
          <a:noFill/>
        </p:spPr>
        <p:txBody>
          <a:bodyPr wrap="square" lIns="0" tIns="0" rIns="0" bIns="0" anchor="ctr">
            <a:spAutoFit/>
          </a:bodyPr>
          <a:lstStyle/>
          <a:p>
            <a:pPr algn="l">
              <a:spcAft>
                <a:spcPts val="300"/>
              </a:spcAft>
            </a:pPr>
            <a:r>
              <a:rPr sz="1150" b="0" i="0">
                <a:solidFill>
                  <a:srgbClr val="5B6B7F"/>
                </a:solidFill>
              </a:rPr>
              <a:t>Flip the global switch to SAFE</a:t>
            </a:r>
          </a:p>
        </p:txBody>
      </p:sp>
      <p:sp>
        <p:nvSpPr>
          <p:cNvPr id="37" name="Rounded Rectangle 36"/>
          <p:cNvSpPr/>
          <p:nvPr/>
        </p:nvSpPr>
        <p:spPr>
          <a:xfrm>
            <a:off x="7269480" y="5074920"/>
            <a:ext cx="4142232" cy="603504"/>
          </a:xfrm>
          <a:prstGeom prst="roundRect">
            <a:avLst>
              <a:gd name="adj" fmla="val 14000"/>
            </a:avLst>
          </a:prstGeom>
          <a:solidFill>
            <a:srgbClr val="FFFFFF"/>
          </a:solidFill>
          <a:ln w="12700">
            <a:solidFill>
              <a:srgbClr val="D9D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7388352" y="5175504"/>
            <a:ext cx="402336" cy="40233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rPr>
              <a:t>6</a:t>
            </a:r>
          </a:p>
        </p:txBody>
      </p:sp>
      <p:sp>
        <p:nvSpPr>
          <p:cNvPr id="39" name="TextBox 38"/>
          <p:cNvSpPr txBox="1"/>
          <p:nvPr/>
        </p:nvSpPr>
        <p:spPr>
          <a:xfrm>
            <a:off x="7936992" y="5111496"/>
            <a:ext cx="3383280" cy="274320"/>
          </a:xfrm>
          <a:prstGeom prst="rect">
            <a:avLst/>
          </a:prstGeom>
          <a:noFill/>
        </p:spPr>
        <p:txBody>
          <a:bodyPr wrap="square" lIns="0" tIns="0" rIns="0" bIns="0" anchor="ctr">
            <a:spAutoFit/>
          </a:bodyPr>
          <a:lstStyle/>
          <a:p>
            <a:pPr algn="l">
              <a:spcAft>
                <a:spcPts val="300"/>
              </a:spcAft>
            </a:pPr>
            <a:r>
              <a:rPr sz="1400" b="1" i="0">
                <a:solidFill>
                  <a:srgbClr val="1A1A1A"/>
                </a:solidFill>
              </a:rPr>
              <a:t>Re-test</a:t>
            </a:r>
          </a:p>
        </p:txBody>
      </p:sp>
      <p:sp>
        <p:nvSpPr>
          <p:cNvPr id="40" name="TextBox 39"/>
          <p:cNvSpPr txBox="1"/>
          <p:nvPr/>
        </p:nvSpPr>
        <p:spPr>
          <a:xfrm>
            <a:off x="7936992" y="5385816"/>
            <a:ext cx="3383280" cy="256032"/>
          </a:xfrm>
          <a:prstGeom prst="rect">
            <a:avLst/>
          </a:prstGeom>
          <a:noFill/>
        </p:spPr>
        <p:txBody>
          <a:bodyPr wrap="square" lIns="0" tIns="0" rIns="0" bIns="0" anchor="ctr">
            <a:spAutoFit/>
          </a:bodyPr>
          <a:lstStyle/>
          <a:p>
            <a:pPr algn="l">
              <a:spcAft>
                <a:spcPts val="300"/>
              </a:spcAft>
            </a:pPr>
            <a:r>
              <a:rPr sz="1150" b="0" i="0">
                <a:solidFill>
                  <a:srgbClr val="5B6B7F"/>
                </a:solidFill>
              </a:rPr>
              <a:t>Replay the identical request</a:t>
            </a:r>
          </a:p>
        </p:txBody>
      </p:sp>
      <p:sp>
        <p:nvSpPr>
          <p:cNvPr id="41" name="TextBox 40"/>
          <p:cNvSpPr txBox="1"/>
          <p:nvPr/>
        </p:nvSpPr>
        <p:spPr>
          <a:xfrm>
            <a:off x="7040880" y="5852160"/>
            <a:ext cx="4599432" cy="182880"/>
          </a:xfrm>
          <a:prstGeom prst="rect">
            <a:avLst/>
          </a:prstGeom>
          <a:noFill/>
        </p:spPr>
        <p:txBody>
          <a:bodyPr wrap="square" lIns="0" tIns="0" rIns="0" bIns="0" anchor="t">
            <a:spAutoFit/>
          </a:bodyPr>
          <a:lstStyle/>
          <a:p>
            <a:pPr algn="ctr">
              <a:spcAft>
                <a:spcPts val="300"/>
              </a:spcAft>
            </a:pPr>
            <a:r>
              <a:rPr sz="1000" b="0" i="0">
                <a:solidFill>
                  <a:srgbClr val="5B6B7F"/>
                </a:solidFill>
              </a:rPr>
              <a:t>Educational lab · runs on localhost · seeded fictional data</a:t>
            </a:r>
          </a:p>
        </p:txBody>
      </p:sp>
      <p:sp>
        <p:nvSpPr>
          <p:cNvPr id="43" name="TextBox 42">
            <a:extLst>
              <a:ext uri="{FF2B5EF4-FFF2-40B4-BE49-F238E27FC236}">
                <a16:creationId xmlns:a16="http://schemas.microsoft.com/office/drawing/2014/main" id="{3E6B6BB9-E25F-9EF1-01A4-899CEDF07A39}"/>
              </a:ext>
            </a:extLst>
          </p:cNvPr>
          <p:cNvSpPr txBox="1"/>
          <p:nvPr/>
        </p:nvSpPr>
        <p:spPr>
          <a:xfrm>
            <a:off x="484258" y="5128315"/>
            <a:ext cx="6079826" cy="738664"/>
          </a:xfrm>
          <a:prstGeom prst="rect">
            <a:avLst/>
          </a:prstGeom>
          <a:noFill/>
        </p:spPr>
        <p:txBody>
          <a:bodyPr wrap="square">
            <a:spAutoFit/>
          </a:bodyPr>
          <a:lstStyle/>
          <a:p>
            <a:pPr marL="0" indent="0">
              <a:buNone/>
            </a:pPr>
            <a:r>
              <a:rPr lang="en-US" sz="1400" b="1" dirty="0">
                <a:solidFill>
                  <a:schemeClr val="tx1"/>
                </a:solidFill>
              </a:rPr>
              <a:t>Aayush </a:t>
            </a:r>
            <a:r>
              <a:rPr lang="en-US" sz="1400" b="1" dirty="0" err="1">
                <a:solidFill>
                  <a:schemeClr val="tx1"/>
                </a:solidFill>
              </a:rPr>
              <a:t>Ranjane</a:t>
            </a:r>
            <a:r>
              <a:rPr lang="en-US" sz="1400" b="1" dirty="0">
                <a:solidFill>
                  <a:schemeClr val="tx1"/>
                </a:solidFill>
              </a:rPr>
              <a:t> </a:t>
            </a:r>
            <a:r>
              <a:rPr lang="en-US" sz="1400" dirty="0">
                <a:solidFill>
                  <a:schemeClr val="tx1"/>
                </a:solidFill>
              </a:rPr>
              <a:t>· 1601012</a:t>
            </a:r>
            <a:r>
              <a:rPr lang="en-US" sz="1400" dirty="0"/>
              <a:t>4251</a:t>
            </a:r>
          </a:p>
          <a:p>
            <a:r>
              <a:rPr lang="en-US" sz="1400" b="1" dirty="0">
                <a:solidFill>
                  <a:schemeClr val="tx1"/>
                </a:solidFill>
              </a:rPr>
              <a:t>Arijit Swaminathan</a:t>
            </a:r>
            <a:r>
              <a:rPr lang="en-US" sz="1400" dirty="0">
                <a:solidFill>
                  <a:schemeClr val="tx1"/>
                </a:solidFill>
              </a:rPr>
              <a:t> · 16010125823</a:t>
            </a:r>
            <a:br>
              <a:rPr lang="en-US" sz="1400" dirty="0">
                <a:solidFill>
                  <a:schemeClr val="tx1"/>
                </a:solidFill>
              </a:rPr>
            </a:br>
            <a:r>
              <a:rPr lang="en-US" sz="1400" b="1" dirty="0"/>
              <a:t>Rajen Patel</a:t>
            </a:r>
            <a:r>
              <a:rPr lang="en-US" sz="1400" dirty="0"/>
              <a:t> · 16010125819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5"/>
          </p:nvPr>
        </p:nvSpPr>
        <p:spPr/>
        <p:txBody>
          <a:bodyPr/>
          <a:lstStyle/>
          <a:p>
            <a:r>
              <a:t>01 · PROBLEM STATEMENT &amp; OBJECTIVE</a:t>
            </a:r>
          </a:p>
        </p:txBody>
      </p:sp>
      <p:sp>
        <p:nvSpPr>
          <p:cNvPr id="3" name="Title 2"/>
          <p:cNvSpPr>
            <a:spLocks noGrp="1"/>
          </p:cNvSpPr>
          <p:nvPr>
            <p:ph type="title" idx="106"/>
          </p:nvPr>
        </p:nvSpPr>
        <p:spPr/>
        <p:txBody>
          <a:bodyPr/>
          <a:lstStyle/>
          <a:p>
            <a:r>
              <a:t>Exploiting is half the story — proof is the rest</a:t>
            </a:r>
          </a:p>
        </p:txBody>
      </p:sp>
      <p:sp>
        <p:nvSpPr>
          <p:cNvPr id="4" name="dot"/>
          <p:cNvSpPr/>
          <p:nvPr/>
        </p:nvSpPr>
        <p:spPr>
          <a:xfrm>
            <a:off x="548640" y="1783080"/>
            <a:ext cx="566928" cy="82296"/>
          </a:xfrm>
          <a:prstGeom prst="roundRect">
            <a:avLst>
              <a:gd name="adj" fmla="val 50000"/>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dot"/>
          <p:cNvSpPr/>
          <p:nvPr/>
        </p:nvSpPr>
        <p:spPr>
          <a:xfrm>
            <a:off x="1188720" y="1783080"/>
            <a:ext cx="384048" cy="82296"/>
          </a:xfrm>
          <a:prstGeom prst="roundRect">
            <a:avLst>
              <a:gd name="adj" fmla="val 50000"/>
            </a:avLst>
          </a:prstGeom>
          <a:solidFill>
            <a:srgbClr val="1F5F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dot"/>
          <p:cNvSpPr/>
          <p:nvPr/>
        </p:nvSpPr>
        <p:spPr>
          <a:xfrm>
            <a:off x="1645920" y="1783080"/>
            <a:ext cx="201168" cy="82296"/>
          </a:xfrm>
          <a:prstGeom prst="roundRect">
            <a:avLst>
              <a:gd name="adj" fmla="val 50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Slide Number Placeholder 0"/>
          <p:cNvSpPr>
            <a:spLocks noGrp="1"/>
          </p:cNvSpPr>
          <p:nvPr>
            <p:ph type="sldNum" sz="quarter" idx="4294967295"/>
          </p:nvPr>
        </p:nvSpPr>
        <p:spPr>
          <a:xfrm>
            <a:off x="11247120" y="59893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1"/>
                </a:solidFill>
              </a:defRPr>
            </a:lvl1pPr>
          </a:lstStyle>
          <a:p>
            <a:pPr algn="r"/>
            <a:fld id="{F7021451-1387-4CA6-816F-3879F97B5CBC}" type="slidenum">
              <a:rPr lang="en-US" b="0"/>
              <a:t>2</a:t>
            </a:fld>
            <a:endParaRPr lang="en-US"/>
          </a:p>
        </p:txBody>
      </p:sp>
      <p:sp>
        <p:nvSpPr>
          <p:cNvPr id="26" name="card"/>
          <p:cNvSpPr/>
          <p:nvPr/>
        </p:nvSpPr>
        <p:spPr>
          <a:xfrm>
            <a:off x="548640" y="2103120"/>
            <a:ext cx="5943600" cy="1143000"/>
          </a:xfrm>
          <a:prstGeom prst="roundRect">
            <a:avLst>
              <a:gd name="adj" fmla="val 10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13232" y="2267712"/>
            <a:ext cx="457200" cy="457200"/>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rPr>
              <a:t>1</a:t>
            </a:r>
          </a:p>
        </p:txBody>
      </p:sp>
      <p:sp>
        <p:nvSpPr>
          <p:cNvPr id="28" name="TextBox 27"/>
          <p:cNvSpPr txBox="1"/>
          <p:nvPr/>
        </p:nvSpPr>
        <p:spPr>
          <a:xfrm>
            <a:off x="1371600" y="2212848"/>
            <a:ext cx="4937760" cy="320040"/>
          </a:xfrm>
          <a:prstGeom prst="rect">
            <a:avLst/>
          </a:prstGeom>
          <a:noFill/>
        </p:spPr>
        <p:txBody>
          <a:bodyPr wrap="square" lIns="0" tIns="0" rIns="0" bIns="0" anchor="ctr">
            <a:spAutoFit/>
          </a:bodyPr>
          <a:lstStyle/>
          <a:p>
            <a:pPr algn="l">
              <a:spcAft>
                <a:spcPts val="300"/>
              </a:spcAft>
            </a:pPr>
            <a:r>
              <a:rPr sz="1600" b="1" i="0">
                <a:solidFill>
                  <a:srgbClr val="1A1A1A"/>
                </a:solidFill>
              </a:rPr>
              <a:t>Web apps are exposed</a:t>
            </a:r>
          </a:p>
        </p:txBody>
      </p:sp>
      <p:sp>
        <p:nvSpPr>
          <p:cNvPr id="29" name="TextBox 28"/>
          <p:cNvSpPr txBox="1"/>
          <p:nvPr/>
        </p:nvSpPr>
        <p:spPr>
          <a:xfrm>
            <a:off x="1371600" y="2578608"/>
            <a:ext cx="4937760" cy="621792"/>
          </a:xfrm>
          <a:prstGeom prst="rect">
            <a:avLst/>
          </a:prstGeom>
          <a:noFill/>
        </p:spPr>
        <p:txBody>
          <a:bodyPr wrap="square" lIns="0" tIns="0" rIns="0" bIns="0" anchor="t">
            <a:spAutoFit/>
          </a:bodyPr>
          <a:lstStyle/>
          <a:p>
            <a:pPr algn="l">
              <a:spcAft>
                <a:spcPts val="300"/>
              </a:spcAft>
            </a:pPr>
            <a:r>
              <a:rPr sz="1300" b="0" i="0">
                <a:solidFill>
                  <a:srgbClr val="1A1A1A"/>
                </a:solidFill>
              </a:rPr>
              <a:t>Injection, unsafe input handling and broken access control remain common weaknesses.</a:t>
            </a:r>
          </a:p>
        </p:txBody>
      </p:sp>
      <p:sp>
        <p:nvSpPr>
          <p:cNvPr id="30" name="card"/>
          <p:cNvSpPr/>
          <p:nvPr/>
        </p:nvSpPr>
        <p:spPr>
          <a:xfrm>
            <a:off x="548640" y="3364991"/>
            <a:ext cx="5943600" cy="1143000"/>
          </a:xfrm>
          <a:prstGeom prst="roundRect">
            <a:avLst>
              <a:gd name="adj" fmla="val 10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713232" y="3529584"/>
            <a:ext cx="457200" cy="457200"/>
          </a:xfrm>
          <a:prstGeom prst="ellipse">
            <a:avLst/>
          </a:prstGeom>
          <a:solidFill>
            <a:srgbClr val="1F5FA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rPr>
              <a:t>2</a:t>
            </a:r>
          </a:p>
        </p:txBody>
      </p:sp>
      <p:sp>
        <p:nvSpPr>
          <p:cNvPr id="32" name="TextBox 31"/>
          <p:cNvSpPr txBox="1"/>
          <p:nvPr/>
        </p:nvSpPr>
        <p:spPr>
          <a:xfrm>
            <a:off x="1371600" y="3474720"/>
            <a:ext cx="4937760" cy="320040"/>
          </a:xfrm>
          <a:prstGeom prst="rect">
            <a:avLst/>
          </a:prstGeom>
          <a:noFill/>
        </p:spPr>
        <p:txBody>
          <a:bodyPr wrap="square" lIns="0" tIns="0" rIns="0" bIns="0" anchor="ctr">
            <a:spAutoFit/>
          </a:bodyPr>
          <a:lstStyle/>
          <a:p>
            <a:pPr algn="l">
              <a:spcAft>
                <a:spcPts val="300"/>
              </a:spcAft>
            </a:pPr>
            <a:r>
              <a:rPr sz="1600" b="1" i="0">
                <a:solidFill>
                  <a:srgbClr val="1A1A1A"/>
                </a:solidFill>
              </a:rPr>
              <a:t>Attacks go unrecorded</a:t>
            </a:r>
          </a:p>
        </p:txBody>
      </p:sp>
      <p:sp>
        <p:nvSpPr>
          <p:cNvPr id="33" name="TextBox 32"/>
          <p:cNvSpPr txBox="1"/>
          <p:nvPr/>
        </p:nvSpPr>
        <p:spPr>
          <a:xfrm>
            <a:off x="1371600" y="3840479"/>
            <a:ext cx="4937760" cy="621792"/>
          </a:xfrm>
          <a:prstGeom prst="rect">
            <a:avLst/>
          </a:prstGeom>
          <a:noFill/>
        </p:spPr>
        <p:txBody>
          <a:bodyPr wrap="square" lIns="0" tIns="0" rIns="0" bIns="0" anchor="t">
            <a:spAutoFit/>
          </a:bodyPr>
          <a:lstStyle/>
          <a:p>
            <a:pPr algn="l">
              <a:spcAft>
                <a:spcPts val="300"/>
              </a:spcAft>
            </a:pPr>
            <a:r>
              <a:rPr sz="1300" b="0" i="0">
                <a:solidFill>
                  <a:srgbClr val="1A1A1A"/>
                </a:solidFill>
              </a:rPr>
              <a:t>Finding the flaw is not enough — the incident must be identified, recorded and investigated.</a:t>
            </a:r>
          </a:p>
        </p:txBody>
      </p:sp>
      <p:sp>
        <p:nvSpPr>
          <p:cNvPr id="34" name="card"/>
          <p:cNvSpPr/>
          <p:nvPr/>
        </p:nvSpPr>
        <p:spPr>
          <a:xfrm>
            <a:off x="548640" y="4626864"/>
            <a:ext cx="5943600" cy="1143000"/>
          </a:xfrm>
          <a:prstGeom prst="roundRect">
            <a:avLst>
              <a:gd name="adj" fmla="val 10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713232" y="4791455"/>
            <a:ext cx="457200" cy="457200"/>
          </a:xfrm>
          <a:prstGeom prst="ellipse">
            <a:avLst/>
          </a:prstGeom>
          <a:solidFill>
            <a:srgbClr val="3E7D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rPr>
              <a:t>3</a:t>
            </a:r>
          </a:p>
        </p:txBody>
      </p:sp>
      <p:sp>
        <p:nvSpPr>
          <p:cNvPr id="36" name="TextBox 35"/>
          <p:cNvSpPr txBox="1"/>
          <p:nvPr/>
        </p:nvSpPr>
        <p:spPr>
          <a:xfrm>
            <a:off x="1371600" y="4736592"/>
            <a:ext cx="4937760" cy="320040"/>
          </a:xfrm>
          <a:prstGeom prst="rect">
            <a:avLst/>
          </a:prstGeom>
          <a:noFill/>
        </p:spPr>
        <p:txBody>
          <a:bodyPr wrap="square" lIns="0" tIns="0" rIns="0" bIns="0" anchor="ctr">
            <a:spAutoFit/>
          </a:bodyPr>
          <a:lstStyle/>
          <a:p>
            <a:pPr algn="l">
              <a:spcAft>
                <a:spcPts val="300"/>
              </a:spcAft>
            </a:pPr>
            <a:r>
              <a:rPr sz="1600" b="1" i="0">
                <a:solidFill>
                  <a:srgbClr val="1A1A1A"/>
                </a:solidFill>
              </a:rPr>
              <a:t>Weak evidence, weak case</a:t>
            </a:r>
          </a:p>
        </p:txBody>
      </p:sp>
      <p:sp>
        <p:nvSpPr>
          <p:cNvPr id="37" name="TextBox 36"/>
          <p:cNvSpPr txBox="1"/>
          <p:nvPr/>
        </p:nvSpPr>
        <p:spPr>
          <a:xfrm>
            <a:off x="1371600" y="5102352"/>
            <a:ext cx="4937760" cy="621792"/>
          </a:xfrm>
          <a:prstGeom prst="rect">
            <a:avLst/>
          </a:prstGeom>
          <a:noFill/>
        </p:spPr>
        <p:txBody>
          <a:bodyPr wrap="square" lIns="0" tIns="0" rIns="0" bIns="0" anchor="t">
            <a:spAutoFit/>
          </a:bodyPr>
          <a:lstStyle/>
          <a:p>
            <a:pPr algn="l">
              <a:spcAft>
                <a:spcPts val="300"/>
              </a:spcAft>
            </a:pPr>
            <a:r>
              <a:rPr sz="1300" b="0" i="0">
                <a:solidFill>
                  <a:srgbClr val="1A1A1A"/>
                </a:solidFill>
              </a:rPr>
              <a:t>Without reliable logs it is hard to rebuild an attack or judge its impact.</a:t>
            </a:r>
          </a:p>
        </p:txBody>
      </p:sp>
      <p:sp>
        <p:nvSpPr>
          <p:cNvPr id="38" name="Right Arrow 37"/>
          <p:cNvSpPr/>
          <p:nvPr/>
        </p:nvSpPr>
        <p:spPr>
          <a:xfrm>
            <a:off x="6583680" y="3794760"/>
            <a:ext cx="365760" cy="365760"/>
          </a:xfrm>
          <a:prstGeom prst="rightArrow">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ective"/>
          <p:cNvSpPr/>
          <p:nvPr/>
        </p:nvSpPr>
        <p:spPr>
          <a:xfrm>
            <a:off x="7086600" y="2103120"/>
            <a:ext cx="4553712" cy="3657600"/>
          </a:xfrm>
          <a:prstGeom prst="roundRect">
            <a:avLst>
              <a:gd name="adj" fmla="val 5000"/>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360920" y="2286000"/>
            <a:ext cx="4023360" cy="274320"/>
          </a:xfrm>
          <a:prstGeom prst="rect">
            <a:avLst/>
          </a:prstGeom>
          <a:noFill/>
        </p:spPr>
        <p:txBody>
          <a:bodyPr wrap="square" lIns="0" tIns="0" rIns="0" bIns="0" anchor="t">
            <a:spAutoFit/>
          </a:bodyPr>
          <a:lstStyle/>
          <a:p>
            <a:pPr algn="l">
              <a:spcAft>
                <a:spcPts val="300"/>
              </a:spcAft>
            </a:pPr>
            <a:r>
              <a:rPr sz="1200" b="1" i="0">
                <a:solidFill>
                  <a:srgbClr val="F3D0D3"/>
                </a:solidFill>
              </a:rPr>
              <a:t>OUR OBJECTIVE</a:t>
            </a:r>
          </a:p>
        </p:txBody>
      </p:sp>
      <p:sp>
        <p:nvSpPr>
          <p:cNvPr id="41" name="TextBox 40"/>
          <p:cNvSpPr txBox="1"/>
          <p:nvPr/>
        </p:nvSpPr>
        <p:spPr>
          <a:xfrm>
            <a:off x="7360920" y="2651760"/>
            <a:ext cx="4023360" cy="1737360"/>
          </a:xfrm>
          <a:prstGeom prst="rect">
            <a:avLst/>
          </a:prstGeom>
          <a:noFill/>
        </p:spPr>
        <p:txBody>
          <a:bodyPr wrap="square" lIns="0" tIns="0" rIns="0" bIns="0" anchor="t">
            <a:spAutoFit/>
          </a:bodyPr>
          <a:lstStyle/>
          <a:p>
            <a:pPr algn="l">
              <a:lnSpc>
                <a:spcPct val="105000"/>
              </a:lnSpc>
              <a:spcAft>
                <a:spcPts val="300"/>
              </a:spcAft>
            </a:pPr>
            <a:r>
              <a:rPr sz="1600" b="1" i="0">
                <a:solidFill>
                  <a:srgbClr val="FFFFFF"/>
                </a:solidFill>
              </a:rPr>
              <a:t>A controlled cybersecurity lab that shows how web attacks occur, how they are detected, how controls mitigate them — and how forensic evidence is preserved and verified.</a:t>
            </a:r>
          </a:p>
        </p:txBody>
      </p:sp>
      <p:sp>
        <p:nvSpPr>
          <p:cNvPr id="42" name="Rounded Rectangle 41"/>
          <p:cNvSpPr/>
          <p:nvPr/>
        </p:nvSpPr>
        <p:spPr>
          <a:xfrm>
            <a:off x="7360920" y="4526280"/>
            <a:ext cx="4023360" cy="1005840"/>
          </a:xfrm>
          <a:prstGeom prst="roundRect">
            <a:avLst>
              <a:gd name="adj" fmla="val 10000"/>
            </a:avLst>
          </a:prstGeom>
          <a:solidFill>
            <a:srgbClr val="8C1D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543800" y="4590288"/>
            <a:ext cx="3657600" cy="274320"/>
          </a:xfrm>
          <a:prstGeom prst="rect">
            <a:avLst/>
          </a:prstGeom>
          <a:noFill/>
        </p:spPr>
        <p:txBody>
          <a:bodyPr wrap="square" lIns="0" tIns="0" rIns="0" bIns="0" anchor="t">
            <a:spAutoFit/>
          </a:bodyPr>
          <a:lstStyle/>
          <a:p>
            <a:pPr algn="l">
              <a:spcAft>
                <a:spcPts val="300"/>
              </a:spcAft>
            </a:pPr>
            <a:r>
              <a:rPr sz="1050" b="1" i="0">
                <a:solidFill>
                  <a:srgbClr val="F3D0D3"/>
                </a:solidFill>
              </a:rPr>
              <a:t>KEY OUTCOME</a:t>
            </a:r>
          </a:p>
        </p:txBody>
      </p:sp>
      <p:sp>
        <p:nvSpPr>
          <p:cNvPr id="44" name="TextBox 43"/>
          <p:cNvSpPr txBox="1"/>
          <p:nvPr/>
        </p:nvSpPr>
        <p:spPr>
          <a:xfrm>
            <a:off x="7543800" y="4864608"/>
            <a:ext cx="3657600" cy="640080"/>
          </a:xfrm>
          <a:prstGeom prst="rect">
            <a:avLst/>
          </a:prstGeom>
          <a:noFill/>
        </p:spPr>
        <p:txBody>
          <a:bodyPr wrap="square" lIns="0" tIns="0" rIns="0" bIns="0" anchor="t">
            <a:spAutoFit/>
          </a:bodyPr>
          <a:lstStyle/>
          <a:p>
            <a:pPr algn="l">
              <a:spcAft>
                <a:spcPts val="300"/>
              </a:spcAft>
            </a:pPr>
            <a:r>
              <a:rPr sz="1350" b="1" i="0">
                <a:solidFill>
                  <a:srgbClr val="FFFFFF"/>
                </a:solidFill>
              </a:rPr>
              <a:t>The full security-incident lifecycle, demonstrated in one application.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5"/>
          </p:nvPr>
        </p:nvSpPr>
        <p:spPr/>
        <p:txBody>
          <a:bodyPr/>
          <a:lstStyle/>
          <a:p>
            <a:r>
              <a:t>02 · ARCHITECTURE &amp; WORKFLOW</a:t>
            </a:r>
          </a:p>
        </p:txBody>
      </p:sp>
      <p:sp>
        <p:nvSpPr>
          <p:cNvPr id="3" name="Title 2"/>
          <p:cNvSpPr>
            <a:spLocks noGrp="1"/>
          </p:cNvSpPr>
          <p:nvPr>
            <p:ph type="title" idx="106"/>
          </p:nvPr>
        </p:nvSpPr>
        <p:spPr/>
        <p:txBody>
          <a:bodyPr/>
          <a:lstStyle/>
          <a:p>
            <a:r>
              <a:t>One request, five layers, one source of truth</a:t>
            </a:r>
          </a:p>
        </p:txBody>
      </p:sp>
      <p:sp>
        <p:nvSpPr>
          <p:cNvPr id="4" name="dot"/>
          <p:cNvSpPr/>
          <p:nvPr/>
        </p:nvSpPr>
        <p:spPr>
          <a:xfrm>
            <a:off x="548640" y="1783080"/>
            <a:ext cx="566928" cy="82296"/>
          </a:xfrm>
          <a:prstGeom prst="roundRect">
            <a:avLst>
              <a:gd name="adj" fmla="val 50000"/>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dot"/>
          <p:cNvSpPr/>
          <p:nvPr/>
        </p:nvSpPr>
        <p:spPr>
          <a:xfrm>
            <a:off x="1188720" y="1783080"/>
            <a:ext cx="384048" cy="82296"/>
          </a:xfrm>
          <a:prstGeom prst="roundRect">
            <a:avLst>
              <a:gd name="adj" fmla="val 50000"/>
            </a:avLst>
          </a:prstGeom>
          <a:solidFill>
            <a:srgbClr val="1F5F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dot"/>
          <p:cNvSpPr/>
          <p:nvPr/>
        </p:nvSpPr>
        <p:spPr>
          <a:xfrm>
            <a:off x="1645920" y="1783080"/>
            <a:ext cx="201168" cy="82296"/>
          </a:xfrm>
          <a:prstGeom prst="roundRect">
            <a:avLst>
              <a:gd name="adj" fmla="val 50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Slide Number Placeholder 0"/>
          <p:cNvSpPr>
            <a:spLocks noGrp="1"/>
          </p:cNvSpPr>
          <p:nvPr>
            <p:ph type="sldNum" sz="quarter" idx="4294967295"/>
          </p:nvPr>
        </p:nvSpPr>
        <p:spPr>
          <a:xfrm>
            <a:off x="11247120" y="59893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1"/>
                </a:solidFill>
              </a:defRPr>
            </a:lvl1pPr>
          </a:lstStyle>
          <a:p>
            <a:pPr algn="r"/>
            <a:fld id="{F7021451-1387-4CA6-816F-3879F97B5CBC}" type="slidenum">
              <a:rPr lang="en-US" b="0"/>
              <a:t>3</a:t>
            </a:fld>
            <a:endParaRPr lang="en-US"/>
          </a:p>
        </p:txBody>
      </p:sp>
      <p:sp>
        <p:nvSpPr>
          <p:cNvPr id="26" name="flow"/>
          <p:cNvSpPr/>
          <p:nvPr/>
        </p:nvSpPr>
        <p:spPr>
          <a:xfrm>
            <a:off x="548640" y="2103120"/>
            <a:ext cx="1938528" cy="1234440"/>
          </a:xfrm>
          <a:prstGeom prst="roundRect">
            <a:avLst>
              <a:gd name="adj" fmla="val 10000"/>
            </a:avLst>
          </a:prstGeom>
          <a:solidFill>
            <a:srgbClr val="FFFFFF"/>
          </a:solidFill>
          <a:ln w="12700">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548640" y="2103120"/>
            <a:ext cx="1938528" cy="384048"/>
          </a:xfrm>
          <a:prstGeom prst="roundRect">
            <a:avLst>
              <a:gd name="adj" fmla="val 25000"/>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48640" y="2286000"/>
            <a:ext cx="1938528" cy="201168"/>
          </a:xfrm>
          <a:prstGeom prst="rect">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48640" y="2103120"/>
            <a:ext cx="1938528" cy="384048"/>
          </a:xfrm>
          <a:prstGeom prst="rect">
            <a:avLst/>
          </a:prstGeom>
          <a:noFill/>
        </p:spPr>
        <p:txBody>
          <a:bodyPr wrap="square" lIns="0" tIns="0" rIns="0" bIns="0" anchor="ctr">
            <a:spAutoFit/>
          </a:bodyPr>
          <a:lstStyle/>
          <a:p>
            <a:pPr algn="ctr">
              <a:spcAft>
                <a:spcPts val="300"/>
              </a:spcAft>
            </a:pPr>
            <a:r>
              <a:rPr sz="1300" b="1" i="0">
                <a:solidFill>
                  <a:srgbClr val="FFFFFF"/>
                </a:solidFill>
              </a:rPr>
              <a:t>Browser</a:t>
            </a:r>
          </a:p>
        </p:txBody>
      </p:sp>
      <p:sp>
        <p:nvSpPr>
          <p:cNvPr id="30" name="TextBox 29"/>
          <p:cNvSpPr txBox="1"/>
          <p:nvPr/>
        </p:nvSpPr>
        <p:spPr>
          <a:xfrm>
            <a:off x="640080" y="2542032"/>
            <a:ext cx="1755648" cy="749808"/>
          </a:xfrm>
          <a:prstGeom prst="rect">
            <a:avLst/>
          </a:prstGeom>
          <a:noFill/>
        </p:spPr>
        <p:txBody>
          <a:bodyPr wrap="square" lIns="0" tIns="0" rIns="0" bIns="0" anchor="ctr">
            <a:spAutoFit/>
          </a:bodyPr>
          <a:lstStyle/>
          <a:p>
            <a:pPr algn="ctr">
              <a:spcAft>
                <a:spcPts val="300"/>
              </a:spcAft>
            </a:pPr>
            <a:r>
              <a:rPr sz="1200" b="0" i="0">
                <a:solidFill>
                  <a:srgbClr val="1A1A1A"/>
                </a:solidFill>
              </a:rPr>
              <a:t>EJS · Bootstrap 5 · Chart.js</a:t>
            </a:r>
          </a:p>
        </p:txBody>
      </p:sp>
      <p:sp>
        <p:nvSpPr>
          <p:cNvPr id="31" name="Right Arrow 30"/>
          <p:cNvSpPr/>
          <p:nvPr/>
        </p:nvSpPr>
        <p:spPr>
          <a:xfrm>
            <a:off x="2523744" y="2560320"/>
            <a:ext cx="274320" cy="274320"/>
          </a:xfrm>
          <a:prstGeom prst="rightArrow">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flow"/>
          <p:cNvSpPr/>
          <p:nvPr/>
        </p:nvSpPr>
        <p:spPr>
          <a:xfrm>
            <a:off x="2834640" y="2103120"/>
            <a:ext cx="1938528" cy="1234440"/>
          </a:xfrm>
          <a:prstGeom prst="roundRect">
            <a:avLst>
              <a:gd name="adj" fmla="val 10000"/>
            </a:avLst>
          </a:prstGeom>
          <a:solidFill>
            <a:srgbClr val="FFFFFF"/>
          </a:solidFill>
          <a:ln w="12700">
            <a:solidFill>
              <a:srgbClr val="1F5F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2834640" y="2103120"/>
            <a:ext cx="1938528" cy="384048"/>
          </a:xfrm>
          <a:prstGeom prst="roundRect">
            <a:avLst>
              <a:gd name="adj" fmla="val 25000"/>
            </a:avLst>
          </a:prstGeom>
          <a:solidFill>
            <a:srgbClr val="1F5F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834640" y="2286000"/>
            <a:ext cx="1938528" cy="201168"/>
          </a:xfrm>
          <a:prstGeom prst="rect">
            <a:avLst/>
          </a:prstGeom>
          <a:solidFill>
            <a:srgbClr val="1F5F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834640" y="2103120"/>
            <a:ext cx="1938528" cy="384048"/>
          </a:xfrm>
          <a:prstGeom prst="rect">
            <a:avLst/>
          </a:prstGeom>
          <a:noFill/>
        </p:spPr>
        <p:txBody>
          <a:bodyPr wrap="square" lIns="0" tIns="0" rIns="0" bIns="0" anchor="ctr">
            <a:spAutoFit/>
          </a:bodyPr>
          <a:lstStyle/>
          <a:p>
            <a:pPr algn="ctr">
              <a:spcAft>
                <a:spcPts val="300"/>
              </a:spcAft>
            </a:pPr>
            <a:r>
              <a:rPr sz="1300" b="1" i="0">
                <a:solidFill>
                  <a:srgbClr val="FFFFFF"/>
                </a:solidFill>
              </a:rPr>
              <a:t>Express middleware</a:t>
            </a:r>
          </a:p>
        </p:txBody>
      </p:sp>
      <p:sp>
        <p:nvSpPr>
          <p:cNvPr id="36" name="TextBox 35"/>
          <p:cNvSpPr txBox="1"/>
          <p:nvPr/>
        </p:nvSpPr>
        <p:spPr>
          <a:xfrm>
            <a:off x="2926080" y="2542032"/>
            <a:ext cx="1755648" cy="749808"/>
          </a:xfrm>
          <a:prstGeom prst="rect">
            <a:avLst/>
          </a:prstGeom>
          <a:noFill/>
        </p:spPr>
        <p:txBody>
          <a:bodyPr wrap="square" lIns="0" tIns="0" rIns="0" bIns="0" anchor="ctr">
            <a:spAutoFit/>
          </a:bodyPr>
          <a:lstStyle/>
          <a:p>
            <a:pPr algn="ctr">
              <a:spcAft>
                <a:spcPts val="300"/>
              </a:spcAft>
            </a:pPr>
            <a:r>
              <a:rPr sz="1200" b="0" i="0">
                <a:solidFill>
                  <a:srgbClr val="1A1A1A"/>
                </a:solidFill>
              </a:rPr>
              <a:t>Helmet CSP · session · CSRF · mode read</a:t>
            </a:r>
          </a:p>
        </p:txBody>
      </p:sp>
      <p:sp>
        <p:nvSpPr>
          <p:cNvPr id="37" name="Right Arrow 36"/>
          <p:cNvSpPr/>
          <p:nvPr/>
        </p:nvSpPr>
        <p:spPr>
          <a:xfrm>
            <a:off x="4809744" y="2560320"/>
            <a:ext cx="274320" cy="274320"/>
          </a:xfrm>
          <a:prstGeom prst="rightArrow">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flow"/>
          <p:cNvSpPr/>
          <p:nvPr/>
        </p:nvSpPr>
        <p:spPr>
          <a:xfrm>
            <a:off x="5120640" y="2103120"/>
            <a:ext cx="1938528" cy="1234440"/>
          </a:xfrm>
          <a:prstGeom prst="roundRect">
            <a:avLst>
              <a:gd name="adj" fmla="val 10000"/>
            </a:avLst>
          </a:prstGeom>
          <a:solidFill>
            <a:srgbClr val="FFFFFF"/>
          </a:solidFill>
          <a:ln w="12700">
            <a:solidFill>
              <a:srgbClr val="A425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5120640" y="2103120"/>
            <a:ext cx="1938528" cy="384048"/>
          </a:xfrm>
          <a:prstGeom prst="roundRect">
            <a:avLst>
              <a:gd name="adj" fmla="val 25000"/>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120640" y="2286000"/>
            <a:ext cx="1938528" cy="201168"/>
          </a:xfrm>
          <a:prstGeom prst="rect">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120640" y="2103120"/>
            <a:ext cx="1938528" cy="384048"/>
          </a:xfrm>
          <a:prstGeom prst="rect">
            <a:avLst/>
          </a:prstGeom>
          <a:noFill/>
        </p:spPr>
        <p:txBody>
          <a:bodyPr wrap="square" lIns="0" tIns="0" rIns="0" bIns="0" anchor="ctr">
            <a:spAutoFit/>
          </a:bodyPr>
          <a:lstStyle/>
          <a:p>
            <a:pPr algn="ctr">
              <a:spcAft>
                <a:spcPts val="300"/>
              </a:spcAft>
            </a:pPr>
            <a:r>
              <a:rPr sz="1300" b="1" i="0">
                <a:solidFill>
                  <a:srgbClr val="FFFFFF"/>
                </a:solidFill>
              </a:rPr>
              <a:t>Lab controllers</a:t>
            </a:r>
          </a:p>
        </p:txBody>
      </p:sp>
      <p:sp>
        <p:nvSpPr>
          <p:cNvPr id="42" name="TextBox 41"/>
          <p:cNvSpPr txBox="1"/>
          <p:nvPr/>
        </p:nvSpPr>
        <p:spPr>
          <a:xfrm>
            <a:off x="5212079" y="2542032"/>
            <a:ext cx="1755648" cy="749808"/>
          </a:xfrm>
          <a:prstGeom prst="rect">
            <a:avLst/>
          </a:prstGeom>
          <a:noFill/>
        </p:spPr>
        <p:txBody>
          <a:bodyPr wrap="square" lIns="0" tIns="0" rIns="0" bIns="0" anchor="ctr">
            <a:spAutoFit/>
          </a:bodyPr>
          <a:lstStyle/>
          <a:p>
            <a:pPr algn="ctr">
              <a:spcAft>
                <a:spcPts val="300"/>
              </a:spcAft>
            </a:pPr>
            <a:r>
              <a:rPr sz="1200" b="0" i="0">
                <a:solidFill>
                  <a:srgbClr val="1A1A1A"/>
                </a:solidFill>
              </a:rPr>
              <a:t>SQLi · XSS · IDOR — blocking happens here</a:t>
            </a:r>
          </a:p>
        </p:txBody>
      </p:sp>
      <p:sp>
        <p:nvSpPr>
          <p:cNvPr id="43" name="Right Arrow 42"/>
          <p:cNvSpPr/>
          <p:nvPr/>
        </p:nvSpPr>
        <p:spPr>
          <a:xfrm>
            <a:off x="7095744" y="2560320"/>
            <a:ext cx="274320" cy="274320"/>
          </a:xfrm>
          <a:prstGeom prst="rightArrow">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flow"/>
          <p:cNvSpPr/>
          <p:nvPr/>
        </p:nvSpPr>
        <p:spPr>
          <a:xfrm>
            <a:off x="7406640" y="2103120"/>
            <a:ext cx="1938528" cy="1234440"/>
          </a:xfrm>
          <a:prstGeom prst="roundRect">
            <a:avLst>
              <a:gd name="adj" fmla="val 10000"/>
            </a:avLst>
          </a:prstGeom>
          <a:solidFill>
            <a:srgbClr val="FFFFFF"/>
          </a:solidFill>
          <a:ln w="12700">
            <a:solidFill>
              <a:srgbClr val="1F5F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7406640" y="2103120"/>
            <a:ext cx="1938528" cy="384048"/>
          </a:xfrm>
          <a:prstGeom prst="roundRect">
            <a:avLst>
              <a:gd name="adj" fmla="val 25000"/>
            </a:avLst>
          </a:prstGeom>
          <a:solidFill>
            <a:srgbClr val="1F5F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7406640" y="2286000"/>
            <a:ext cx="1938528" cy="201168"/>
          </a:xfrm>
          <a:prstGeom prst="rect">
            <a:avLst/>
          </a:prstGeom>
          <a:solidFill>
            <a:srgbClr val="1F5F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406640" y="2103120"/>
            <a:ext cx="1938528" cy="384048"/>
          </a:xfrm>
          <a:prstGeom prst="rect">
            <a:avLst/>
          </a:prstGeom>
          <a:noFill/>
        </p:spPr>
        <p:txBody>
          <a:bodyPr wrap="square" lIns="0" tIns="0" rIns="0" bIns="0" anchor="ctr">
            <a:spAutoFit/>
          </a:bodyPr>
          <a:lstStyle/>
          <a:p>
            <a:pPr algn="ctr">
              <a:spcAft>
                <a:spcPts val="300"/>
              </a:spcAft>
            </a:pPr>
            <a:r>
              <a:rPr sz="1300" b="1" i="0">
                <a:solidFill>
                  <a:srgbClr val="FFFFFF"/>
                </a:solidFill>
              </a:rPr>
              <a:t>Security monitor</a:t>
            </a:r>
          </a:p>
        </p:txBody>
      </p:sp>
      <p:sp>
        <p:nvSpPr>
          <p:cNvPr id="48" name="TextBox 47"/>
          <p:cNvSpPr txBox="1"/>
          <p:nvPr/>
        </p:nvSpPr>
        <p:spPr>
          <a:xfrm>
            <a:off x="7498079" y="2542032"/>
            <a:ext cx="1755648" cy="749808"/>
          </a:xfrm>
          <a:prstGeom prst="rect">
            <a:avLst/>
          </a:prstGeom>
          <a:noFill/>
        </p:spPr>
        <p:txBody>
          <a:bodyPr wrap="square" lIns="0" tIns="0" rIns="0" bIns="0" anchor="ctr">
            <a:spAutoFit/>
          </a:bodyPr>
          <a:lstStyle/>
          <a:p>
            <a:pPr algn="ctr">
              <a:spcAft>
                <a:spcPts val="300"/>
              </a:spcAft>
            </a:pPr>
            <a:r>
              <a:rPr sz="1200" b="0" i="0">
                <a:solidFill>
                  <a:srgbClr val="1A1A1A"/>
                </a:solidFill>
              </a:rPr>
              <a:t>Detect + score on response finish</a:t>
            </a:r>
          </a:p>
        </p:txBody>
      </p:sp>
      <p:sp>
        <p:nvSpPr>
          <p:cNvPr id="49" name="Right Arrow 48"/>
          <p:cNvSpPr/>
          <p:nvPr/>
        </p:nvSpPr>
        <p:spPr>
          <a:xfrm>
            <a:off x="9381743" y="2560320"/>
            <a:ext cx="274320" cy="274320"/>
          </a:xfrm>
          <a:prstGeom prst="rightArrow">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flow"/>
          <p:cNvSpPr/>
          <p:nvPr/>
        </p:nvSpPr>
        <p:spPr>
          <a:xfrm>
            <a:off x="9692640" y="2103120"/>
            <a:ext cx="1938528" cy="1234440"/>
          </a:xfrm>
          <a:prstGeom prst="roundRect">
            <a:avLst>
              <a:gd name="adj" fmla="val 10000"/>
            </a:avLst>
          </a:prstGeom>
          <a:solidFill>
            <a:srgbClr val="FFFFFF"/>
          </a:solidFill>
          <a:ln w="12700">
            <a:solidFill>
              <a:srgbClr val="3E7D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9692640" y="2103120"/>
            <a:ext cx="1938528" cy="384048"/>
          </a:xfrm>
          <a:prstGeom prst="roundRect">
            <a:avLst>
              <a:gd name="adj" fmla="val 25000"/>
            </a:avLst>
          </a:prstGeom>
          <a:solidFill>
            <a:srgbClr val="3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9692640" y="2286000"/>
            <a:ext cx="1938528" cy="201168"/>
          </a:xfrm>
          <a:prstGeom prst="rect">
            <a:avLst/>
          </a:prstGeom>
          <a:solidFill>
            <a:srgbClr val="3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692640" y="2103120"/>
            <a:ext cx="1938528" cy="384048"/>
          </a:xfrm>
          <a:prstGeom prst="rect">
            <a:avLst/>
          </a:prstGeom>
          <a:noFill/>
        </p:spPr>
        <p:txBody>
          <a:bodyPr wrap="square" lIns="0" tIns="0" rIns="0" bIns="0" anchor="ctr">
            <a:spAutoFit/>
          </a:bodyPr>
          <a:lstStyle/>
          <a:p>
            <a:pPr algn="ctr">
              <a:spcAft>
                <a:spcPts val="300"/>
              </a:spcAft>
            </a:pPr>
            <a:r>
              <a:rPr sz="1300" b="1" i="0">
                <a:solidFill>
                  <a:srgbClr val="FFFFFF"/>
                </a:solidFill>
              </a:rPr>
              <a:t>PostgreSQL</a:t>
            </a:r>
          </a:p>
        </p:txBody>
      </p:sp>
      <p:sp>
        <p:nvSpPr>
          <p:cNvPr id="54" name="TextBox 53"/>
          <p:cNvSpPr txBox="1"/>
          <p:nvPr/>
        </p:nvSpPr>
        <p:spPr>
          <a:xfrm>
            <a:off x="9784080" y="2542032"/>
            <a:ext cx="1755648" cy="749808"/>
          </a:xfrm>
          <a:prstGeom prst="rect">
            <a:avLst/>
          </a:prstGeom>
          <a:noFill/>
        </p:spPr>
        <p:txBody>
          <a:bodyPr wrap="square" lIns="0" tIns="0" rIns="0" bIns="0" anchor="ctr">
            <a:spAutoFit/>
          </a:bodyPr>
          <a:lstStyle/>
          <a:p>
            <a:pPr algn="ctr">
              <a:spcAft>
                <a:spcPts val="300"/>
              </a:spcAft>
            </a:pPr>
            <a:r>
              <a:rPr sz="1200" b="0" i="0">
                <a:solidFill>
                  <a:srgbClr val="1A1A1A"/>
                </a:solidFill>
              </a:rPr>
              <a:t>Users · lab data · events · evidence</a:t>
            </a:r>
          </a:p>
        </p:txBody>
      </p:sp>
      <p:sp>
        <p:nvSpPr>
          <p:cNvPr id="55" name="card"/>
          <p:cNvSpPr/>
          <p:nvPr/>
        </p:nvSpPr>
        <p:spPr>
          <a:xfrm>
            <a:off x="548640" y="3566160"/>
            <a:ext cx="3593592" cy="1828800"/>
          </a:xfrm>
          <a:prstGeom prst="roundRect">
            <a:avLst>
              <a:gd name="adj" fmla="val 7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713232" y="3703320"/>
            <a:ext cx="384048" cy="384048"/>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rPr>
              <a:t>1</a:t>
            </a:r>
          </a:p>
        </p:txBody>
      </p:sp>
      <p:sp>
        <p:nvSpPr>
          <p:cNvPr id="57" name="TextBox 56"/>
          <p:cNvSpPr txBox="1"/>
          <p:nvPr/>
        </p:nvSpPr>
        <p:spPr>
          <a:xfrm>
            <a:off x="1207007" y="3675887"/>
            <a:ext cx="2834640" cy="457200"/>
          </a:xfrm>
          <a:prstGeom prst="rect">
            <a:avLst/>
          </a:prstGeom>
          <a:noFill/>
        </p:spPr>
        <p:txBody>
          <a:bodyPr wrap="square" lIns="0" tIns="0" rIns="0" bIns="0" anchor="ctr">
            <a:spAutoFit/>
          </a:bodyPr>
          <a:lstStyle/>
          <a:p>
            <a:pPr algn="l">
              <a:spcAft>
                <a:spcPts val="300"/>
              </a:spcAft>
            </a:pPr>
            <a:r>
              <a:rPr sz="1400" b="1" i="0">
                <a:solidFill>
                  <a:srgbClr val="1A1A1A"/>
                </a:solidFill>
              </a:rPr>
              <a:t>A global SAFE / VULNERABLE switch</a:t>
            </a:r>
          </a:p>
        </p:txBody>
      </p:sp>
      <p:sp>
        <p:nvSpPr>
          <p:cNvPr id="58" name="TextBox 57"/>
          <p:cNvSpPr txBox="1"/>
          <p:nvPr/>
        </p:nvSpPr>
        <p:spPr>
          <a:xfrm>
            <a:off x="713232" y="4251960"/>
            <a:ext cx="3291840" cy="1097280"/>
          </a:xfrm>
          <a:prstGeom prst="rect">
            <a:avLst/>
          </a:prstGeom>
          <a:noFill/>
        </p:spPr>
        <p:txBody>
          <a:bodyPr wrap="square" lIns="0" tIns="0" rIns="0" bIns="0" anchor="t">
            <a:spAutoFit/>
          </a:bodyPr>
          <a:lstStyle/>
          <a:p>
            <a:pPr algn="l">
              <a:spcAft>
                <a:spcPts val="300"/>
              </a:spcAft>
            </a:pPr>
            <a:r>
              <a:rPr sz="1250" b="0" i="0">
                <a:solidFill>
                  <a:srgbClr val="1A1A1A"/>
                </a:solidFill>
              </a:rPr>
              <a:t>One database row, read on every request and never cached. An admin flips it; the next request changes.</a:t>
            </a:r>
          </a:p>
        </p:txBody>
      </p:sp>
      <p:sp>
        <p:nvSpPr>
          <p:cNvPr id="59" name="card"/>
          <p:cNvSpPr/>
          <p:nvPr/>
        </p:nvSpPr>
        <p:spPr>
          <a:xfrm>
            <a:off x="4297679" y="3566160"/>
            <a:ext cx="3593592" cy="1828800"/>
          </a:xfrm>
          <a:prstGeom prst="roundRect">
            <a:avLst>
              <a:gd name="adj" fmla="val 7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4462271" y="3703320"/>
            <a:ext cx="384048" cy="384048"/>
          </a:xfrm>
          <a:prstGeom prst="ellipse">
            <a:avLst/>
          </a:prstGeom>
          <a:solidFill>
            <a:srgbClr val="1F5FA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rPr>
              <a:t>2</a:t>
            </a:r>
          </a:p>
        </p:txBody>
      </p:sp>
      <p:sp>
        <p:nvSpPr>
          <p:cNvPr id="61" name="TextBox 60"/>
          <p:cNvSpPr txBox="1"/>
          <p:nvPr/>
        </p:nvSpPr>
        <p:spPr>
          <a:xfrm>
            <a:off x="4956047" y="3675887"/>
            <a:ext cx="2834640" cy="457200"/>
          </a:xfrm>
          <a:prstGeom prst="rect">
            <a:avLst/>
          </a:prstGeom>
          <a:noFill/>
        </p:spPr>
        <p:txBody>
          <a:bodyPr wrap="square" lIns="0" tIns="0" rIns="0" bIns="0" anchor="ctr">
            <a:spAutoFit/>
          </a:bodyPr>
          <a:lstStyle/>
          <a:p>
            <a:pPr algn="l">
              <a:spcAft>
                <a:spcPts val="300"/>
              </a:spcAft>
            </a:pPr>
            <a:r>
              <a:rPr sz="1400" b="1" i="0">
                <a:solidFill>
                  <a:srgbClr val="1A1A1A"/>
                </a:solidFill>
              </a:rPr>
              <a:t>Detection can never alter a response</a:t>
            </a:r>
          </a:p>
        </p:txBody>
      </p:sp>
      <p:sp>
        <p:nvSpPr>
          <p:cNvPr id="62" name="TextBox 61"/>
          <p:cNvSpPr txBox="1"/>
          <p:nvPr/>
        </p:nvSpPr>
        <p:spPr>
          <a:xfrm>
            <a:off x="4462271" y="4251960"/>
            <a:ext cx="3291840" cy="1097280"/>
          </a:xfrm>
          <a:prstGeom prst="rect">
            <a:avLst/>
          </a:prstGeom>
          <a:noFill/>
        </p:spPr>
        <p:txBody>
          <a:bodyPr wrap="square" lIns="0" tIns="0" rIns="0" bIns="0" anchor="t">
            <a:spAutoFit/>
          </a:bodyPr>
          <a:lstStyle/>
          <a:p>
            <a:pPr algn="l">
              <a:spcAft>
                <a:spcPts val="300"/>
              </a:spcAft>
            </a:pPr>
            <a:r>
              <a:rPr sz="1250" b="0" i="0">
                <a:solidFill>
                  <a:srgbClr val="1A1A1A"/>
                </a:solidFill>
              </a:rPr>
              <a:t>Rules run after the response finishes, wrapped in try/catch. Blocking is the controller’s job; logging is the monitor’s.</a:t>
            </a:r>
          </a:p>
        </p:txBody>
      </p:sp>
      <p:sp>
        <p:nvSpPr>
          <p:cNvPr id="63" name="card"/>
          <p:cNvSpPr/>
          <p:nvPr/>
        </p:nvSpPr>
        <p:spPr>
          <a:xfrm>
            <a:off x="8046719" y="3566160"/>
            <a:ext cx="3593592" cy="1828800"/>
          </a:xfrm>
          <a:prstGeom prst="roundRect">
            <a:avLst>
              <a:gd name="adj" fmla="val 7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8211311" y="3703320"/>
            <a:ext cx="384048" cy="384048"/>
          </a:xfrm>
          <a:prstGeom prst="ellipse">
            <a:avLst/>
          </a:prstGeom>
          <a:solidFill>
            <a:srgbClr val="3E7D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rPr>
              <a:t>3</a:t>
            </a:r>
          </a:p>
        </p:txBody>
      </p:sp>
      <p:sp>
        <p:nvSpPr>
          <p:cNvPr id="65" name="TextBox 64"/>
          <p:cNvSpPr txBox="1"/>
          <p:nvPr/>
        </p:nvSpPr>
        <p:spPr>
          <a:xfrm>
            <a:off x="8705088" y="3675887"/>
            <a:ext cx="2834640" cy="457200"/>
          </a:xfrm>
          <a:prstGeom prst="rect">
            <a:avLst/>
          </a:prstGeom>
          <a:noFill/>
        </p:spPr>
        <p:txBody>
          <a:bodyPr wrap="square" lIns="0" tIns="0" rIns="0" bIns="0" anchor="ctr">
            <a:spAutoFit/>
          </a:bodyPr>
          <a:lstStyle/>
          <a:p>
            <a:pPr algn="l">
              <a:spcAft>
                <a:spcPts val="300"/>
              </a:spcAft>
            </a:pPr>
            <a:r>
              <a:rPr sz="1400" b="1" i="0">
                <a:solidFill>
                  <a:srgbClr val="1A1A1A"/>
                </a:solidFill>
              </a:rPr>
              <a:t>The weakness is quarantined</a:t>
            </a:r>
          </a:p>
        </p:txBody>
      </p:sp>
      <p:sp>
        <p:nvSpPr>
          <p:cNvPr id="66" name="TextBox 65"/>
          <p:cNvSpPr txBox="1"/>
          <p:nvPr/>
        </p:nvSpPr>
        <p:spPr>
          <a:xfrm>
            <a:off x="8211311" y="4251960"/>
            <a:ext cx="3291840" cy="1097280"/>
          </a:xfrm>
          <a:prstGeom prst="rect">
            <a:avLst/>
          </a:prstGeom>
          <a:noFill/>
        </p:spPr>
        <p:txBody>
          <a:bodyPr wrap="square" lIns="0" tIns="0" rIns="0" bIns="0" anchor="t">
            <a:spAutoFit/>
          </a:bodyPr>
          <a:lstStyle/>
          <a:p>
            <a:pPr algn="l">
              <a:spcAft>
                <a:spcPts val="300"/>
              </a:spcAft>
            </a:pPr>
            <a:r>
              <a:rPr sz="1250" b="0" i="0">
                <a:solidFill>
                  <a:srgbClr val="1A1A1A"/>
                </a:solidFill>
              </a:rPr>
              <a:t>Only three lab routes, and only while the mode is VULNERABLE. Everything else stays hardened.</a:t>
            </a:r>
          </a:p>
        </p:txBody>
      </p:sp>
      <p:sp>
        <p:nvSpPr>
          <p:cNvPr id="67" name="TextBox 66"/>
          <p:cNvSpPr txBox="1"/>
          <p:nvPr/>
        </p:nvSpPr>
        <p:spPr>
          <a:xfrm>
            <a:off x="548640" y="5559552"/>
            <a:ext cx="11064240" cy="274320"/>
          </a:xfrm>
          <a:prstGeom prst="rect">
            <a:avLst/>
          </a:prstGeom>
          <a:noFill/>
        </p:spPr>
        <p:txBody>
          <a:bodyPr wrap="square" lIns="0" tIns="0" rIns="0" bIns="0" anchor="ctr">
            <a:spAutoFit/>
          </a:bodyPr>
          <a:lstStyle/>
          <a:p>
            <a:pPr algn="l">
              <a:spcAft>
                <a:spcPts val="300"/>
              </a:spcAft>
            </a:pPr>
            <a:r>
              <a:rPr sz="1200" b="1" i="0">
                <a:solidFill>
                  <a:srgbClr val="A42530"/>
                </a:solidFill>
              </a:rPr>
              <a:t>Stack  </a:t>
            </a:r>
            <a:r>
              <a:rPr sz="1200" b="0" i="0">
                <a:solidFill>
                  <a:srgbClr val="5B6B7F"/>
                </a:solidFill>
              </a:rPr>
              <a:t>Node.js ≥18 · Express 4 · EJS · Bootstrap 5 · PostgreSQL 13+ · Chart.js · no CDN, works offline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5"/>
          </p:nvPr>
        </p:nvSpPr>
        <p:spPr/>
        <p:txBody>
          <a:bodyPr/>
          <a:lstStyle/>
          <a:p>
            <a:r>
              <a:t>03 · THE THREE ATTACK LABS</a:t>
            </a:r>
          </a:p>
        </p:txBody>
      </p:sp>
      <p:sp>
        <p:nvSpPr>
          <p:cNvPr id="3" name="Title 2"/>
          <p:cNvSpPr>
            <a:spLocks noGrp="1"/>
          </p:cNvSpPr>
          <p:nvPr>
            <p:ph type="title" idx="106"/>
          </p:nvPr>
        </p:nvSpPr>
        <p:spPr/>
        <p:txBody>
          <a:bodyPr/>
          <a:lstStyle/>
          <a:p>
            <a:r>
              <a:t>Three real flaws — each with its fix one switch away</a:t>
            </a:r>
          </a:p>
        </p:txBody>
      </p:sp>
      <p:sp>
        <p:nvSpPr>
          <p:cNvPr id="4" name="dot"/>
          <p:cNvSpPr/>
          <p:nvPr/>
        </p:nvSpPr>
        <p:spPr>
          <a:xfrm>
            <a:off x="548640" y="1783080"/>
            <a:ext cx="566928" cy="82296"/>
          </a:xfrm>
          <a:prstGeom prst="roundRect">
            <a:avLst>
              <a:gd name="adj" fmla="val 50000"/>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dot"/>
          <p:cNvSpPr/>
          <p:nvPr/>
        </p:nvSpPr>
        <p:spPr>
          <a:xfrm>
            <a:off x="1188720" y="1783080"/>
            <a:ext cx="384048" cy="82296"/>
          </a:xfrm>
          <a:prstGeom prst="roundRect">
            <a:avLst>
              <a:gd name="adj" fmla="val 50000"/>
            </a:avLst>
          </a:prstGeom>
          <a:solidFill>
            <a:srgbClr val="1F5F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dot"/>
          <p:cNvSpPr/>
          <p:nvPr/>
        </p:nvSpPr>
        <p:spPr>
          <a:xfrm>
            <a:off x="1645920" y="1783080"/>
            <a:ext cx="201168" cy="82296"/>
          </a:xfrm>
          <a:prstGeom prst="roundRect">
            <a:avLst>
              <a:gd name="adj" fmla="val 50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Slide Number Placeholder 0"/>
          <p:cNvSpPr>
            <a:spLocks noGrp="1"/>
          </p:cNvSpPr>
          <p:nvPr>
            <p:ph type="sldNum" sz="quarter" idx="4294967295"/>
          </p:nvPr>
        </p:nvSpPr>
        <p:spPr>
          <a:xfrm>
            <a:off x="11247120" y="59893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1"/>
                </a:solidFill>
              </a:defRPr>
            </a:lvl1pPr>
          </a:lstStyle>
          <a:p>
            <a:pPr algn="r"/>
            <a:fld id="{F7021451-1387-4CA6-816F-3879F97B5CBC}" type="slidenum">
              <a:rPr lang="en-US" b="0"/>
              <a:t>4</a:t>
            </a:fld>
            <a:endParaRPr lang="en-US"/>
          </a:p>
        </p:txBody>
      </p:sp>
      <p:sp>
        <p:nvSpPr>
          <p:cNvPr id="26" name="card"/>
          <p:cNvSpPr/>
          <p:nvPr/>
        </p:nvSpPr>
        <p:spPr>
          <a:xfrm>
            <a:off x="548640" y="2103120"/>
            <a:ext cx="3593592" cy="3749039"/>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548640" y="2103120"/>
            <a:ext cx="3593592" cy="502920"/>
          </a:xfrm>
          <a:prstGeom prst="roundRect">
            <a:avLst>
              <a:gd name="adj" fmla="val 18000"/>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48640" y="2377440"/>
            <a:ext cx="3593592" cy="228600"/>
          </a:xfrm>
          <a:prstGeom prst="rect">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2103120"/>
            <a:ext cx="3200400" cy="502920"/>
          </a:xfrm>
          <a:prstGeom prst="rect">
            <a:avLst/>
          </a:prstGeom>
          <a:noFill/>
        </p:spPr>
        <p:txBody>
          <a:bodyPr wrap="square" lIns="0" tIns="0" rIns="0" bIns="0" anchor="ctr">
            <a:spAutoFit/>
          </a:bodyPr>
          <a:lstStyle/>
          <a:p>
            <a:pPr algn="l">
              <a:spcAft>
                <a:spcPts val="300"/>
              </a:spcAft>
            </a:pPr>
            <a:r>
              <a:rPr sz="1700" b="1" i="0">
                <a:solidFill>
                  <a:srgbClr val="FFFFFF"/>
                </a:solidFill>
              </a:rPr>
              <a:t>SQL Injection</a:t>
            </a:r>
          </a:p>
        </p:txBody>
      </p:sp>
      <p:sp>
        <p:nvSpPr>
          <p:cNvPr id="30" name="TextBox 29"/>
          <p:cNvSpPr txBox="1"/>
          <p:nvPr/>
        </p:nvSpPr>
        <p:spPr>
          <a:xfrm>
            <a:off x="731520" y="2724912"/>
            <a:ext cx="3200400" cy="228600"/>
          </a:xfrm>
          <a:prstGeom prst="rect">
            <a:avLst/>
          </a:prstGeom>
          <a:noFill/>
        </p:spPr>
        <p:txBody>
          <a:bodyPr wrap="square" lIns="0" tIns="0" rIns="0" bIns="0" anchor="t">
            <a:spAutoFit/>
          </a:bodyPr>
          <a:lstStyle/>
          <a:p>
            <a:pPr algn="l">
              <a:spcAft>
                <a:spcPts val="300"/>
              </a:spcAft>
            </a:pPr>
            <a:r>
              <a:rPr sz="1050" b="1" i="0">
                <a:solidFill>
                  <a:srgbClr val="A42530"/>
                </a:solidFill>
              </a:rPr>
              <a:t>THE FLAW</a:t>
            </a:r>
          </a:p>
        </p:txBody>
      </p:sp>
      <p:sp>
        <p:nvSpPr>
          <p:cNvPr id="31" name="TextBox 30"/>
          <p:cNvSpPr txBox="1"/>
          <p:nvPr/>
        </p:nvSpPr>
        <p:spPr>
          <a:xfrm>
            <a:off x="731520" y="2944368"/>
            <a:ext cx="3246120" cy="594360"/>
          </a:xfrm>
          <a:prstGeom prst="rect">
            <a:avLst/>
          </a:prstGeom>
          <a:noFill/>
        </p:spPr>
        <p:txBody>
          <a:bodyPr wrap="square" lIns="0" tIns="0" rIns="0" bIns="0" anchor="t">
            <a:spAutoFit/>
          </a:bodyPr>
          <a:lstStyle/>
          <a:p>
            <a:pPr algn="l">
              <a:spcAft>
                <a:spcPts val="300"/>
              </a:spcAft>
            </a:pPr>
            <a:r>
              <a:rPr sz="1350" b="1" i="0">
                <a:solidFill>
                  <a:srgbClr val="1A1A1A"/>
                </a:solidFill>
              </a:rPr>
              <a:t>Search input is concatenated into the SQL string.</a:t>
            </a:r>
          </a:p>
        </p:txBody>
      </p:sp>
      <p:sp>
        <p:nvSpPr>
          <p:cNvPr id="32" name="Rounded Rectangle 31"/>
          <p:cNvSpPr/>
          <p:nvPr/>
        </p:nvSpPr>
        <p:spPr>
          <a:xfrm>
            <a:off x="685800" y="3611880"/>
            <a:ext cx="3319272" cy="1143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2959" y="3657600"/>
            <a:ext cx="3017520" cy="228600"/>
          </a:xfrm>
          <a:prstGeom prst="rect">
            <a:avLst/>
          </a:prstGeom>
          <a:noFill/>
        </p:spPr>
        <p:txBody>
          <a:bodyPr wrap="square" lIns="0" tIns="0" rIns="0" bIns="0" anchor="t">
            <a:spAutoFit/>
          </a:bodyPr>
          <a:lstStyle/>
          <a:p>
            <a:pPr algn="l">
              <a:spcAft>
                <a:spcPts val="300"/>
              </a:spcAft>
            </a:pPr>
            <a:r>
              <a:rPr sz="1050" b="1" i="0">
                <a:solidFill>
                  <a:srgbClr val="A42530"/>
                </a:solidFill>
              </a:rPr>
              <a:t>VULNERABLE MODE</a:t>
            </a:r>
          </a:p>
        </p:txBody>
      </p:sp>
      <p:sp>
        <p:nvSpPr>
          <p:cNvPr id="34" name="TextBox 33"/>
          <p:cNvSpPr txBox="1"/>
          <p:nvPr/>
        </p:nvSpPr>
        <p:spPr>
          <a:xfrm>
            <a:off x="822959" y="3886200"/>
            <a:ext cx="3063240" cy="868680"/>
          </a:xfrm>
          <a:prstGeom prst="rect">
            <a:avLst/>
          </a:prstGeom>
          <a:noFill/>
        </p:spPr>
        <p:txBody>
          <a:bodyPr wrap="square" lIns="0" tIns="0" rIns="0" bIns="0" anchor="t">
            <a:spAutoFit/>
          </a:bodyPr>
          <a:lstStyle/>
          <a:p>
            <a:pPr algn="l">
              <a:spcAft>
                <a:spcPts val="300"/>
              </a:spcAft>
            </a:pPr>
            <a:r>
              <a:rPr sz="1300" b="0" i="0">
                <a:solidFill>
                  <a:srgbClr val="1A1A1A"/>
                </a:solidFill>
              </a:rPr>
              <a:t>A crafted search exposes unreleased product records. Query runs on a read-only, products-only DB role.</a:t>
            </a:r>
          </a:p>
        </p:txBody>
      </p:sp>
      <p:sp>
        <p:nvSpPr>
          <p:cNvPr id="35" name="Rounded Rectangle 34"/>
          <p:cNvSpPr/>
          <p:nvPr/>
        </p:nvSpPr>
        <p:spPr>
          <a:xfrm>
            <a:off x="685800" y="4846320"/>
            <a:ext cx="3319272" cy="868680"/>
          </a:xfrm>
          <a:prstGeom prst="roundRect">
            <a:avLst>
              <a:gd name="adj" fmla="val 8000"/>
            </a:avLst>
          </a:prstGeom>
          <a:solidFill>
            <a:srgbClr val="E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2959" y="4892040"/>
            <a:ext cx="3017520" cy="228600"/>
          </a:xfrm>
          <a:prstGeom prst="rect">
            <a:avLst/>
          </a:prstGeom>
          <a:noFill/>
        </p:spPr>
        <p:txBody>
          <a:bodyPr wrap="square" lIns="0" tIns="0" rIns="0" bIns="0" anchor="t">
            <a:spAutoFit/>
          </a:bodyPr>
          <a:lstStyle/>
          <a:p>
            <a:pPr algn="l">
              <a:spcAft>
                <a:spcPts val="300"/>
              </a:spcAft>
            </a:pPr>
            <a:r>
              <a:rPr sz="1050" b="1" i="0">
                <a:solidFill>
                  <a:srgbClr val="3E7D3A"/>
                </a:solidFill>
              </a:rPr>
              <a:t>SAFE MODE</a:t>
            </a:r>
          </a:p>
        </p:txBody>
      </p:sp>
      <p:sp>
        <p:nvSpPr>
          <p:cNvPr id="37" name="TextBox 36"/>
          <p:cNvSpPr txBox="1"/>
          <p:nvPr/>
        </p:nvSpPr>
        <p:spPr>
          <a:xfrm>
            <a:off x="822959" y="5120640"/>
            <a:ext cx="3063240" cy="566928"/>
          </a:xfrm>
          <a:prstGeom prst="rect">
            <a:avLst/>
          </a:prstGeom>
          <a:noFill/>
        </p:spPr>
        <p:txBody>
          <a:bodyPr wrap="square" lIns="0" tIns="0" rIns="0" bIns="0" anchor="t">
            <a:spAutoFit/>
          </a:bodyPr>
          <a:lstStyle/>
          <a:p>
            <a:pPr algn="l">
              <a:spcAft>
                <a:spcPts val="300"/>
              </a:spcAft>
            </a:pPr>
            <a:r>
              <a:rPr sz="1300" b="0" i="0">
                <a:solidFill>
                  <a:srgbClr val="1A1A1A"/>
                </a:solidFill>
              </a:rPr>
              <a:t>Parameterized query plus server-side validation.</a:t>
            </a:r>
          </a:p>
        </p:txBody>
      </p:sp>
      <p:sp>
        <p:nvSpPr>
          <p:cNvPr id="38" name="card"/>
          <p:cNvSpPr/>
          <p:nvPr/>
        </p:nvSpPr>
        <p:spPr>
          <a:xfrm>
            <a:off x="4297679" y="2103120"/>
            <a:ext cx="3593592" cy="3749039"/>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4297679" y="2103120"/>
            <a:ext cx="3593592" cy="502920"/>
          </a:xfrm>
          <a:prstGeom prst="roundRect">
            <a:avLst>
              <a:gd name="adj" fmla="val 18000"/>
            </a:avLst>
          </a:prstGeom>
          <a:solidFill>
            <a:srgbClr val="1F5F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297679" y="2377440"/>
            <a:ext cx="3593592" cy="228600"/>
          </a:xfrm>
          <a:prstGeom prst="rect">
            <a:avLst/>
          </a:prstGeom>
          <a:solidFill>
            <a:srgbClr val="1F5F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0559" y="2103120"/>
            <a:ext cx="3200400" cy="502920"/>
          </a:xfrm>
          <a:prstGeom prst="rect">
            <a:avLst/>
          </a:prstGeom>
          <a:noFill/>
        </p:spPr>
        <p:txBody>
          <a:bodyPr wrap="square" lIns="0" tIns="0" rIns="0" bIns="0" anchor="ctr">
            <a:spAutoFit/>
          </a:bodyPr>
          <a:lstStyle/>
          <a:p>
            <a:pPr algn="l">
              <a:spcAft>
                <a:spcPts val="300"/>
              </a:spcAft>
            </a:pPr>
            <a:r>
              <a:rPr sz="1700" b="1" i="0">
                <a:solidFill>
                  <a:srgbClr val="FFFFFF"/>
                </a:solidFill>
              </a:rPr>
              <a:t>Stored XSS</a:t>
            </a:r>
          </a:p>
        </p:txBody>
      </p:sp>
      <p:sp>
        <p:nvSpPr>
          <p:cNvPr id="42" name="TextBox 41"/>
          <p:cNvSpPr txBox="1"/>
          <p:nvPr/>
        </p:nvSpPr>
        <p:spPr>
          <a:xfrm>
            <a:off x="4480559" y="2724912"/>
            <a:ext cx="3200400" cy="228600"/>
          </a:xfrm>
          <a:prstGeom prst="rect">
            <a:avLst/>
          </a:prstGeom>
          <a:noFill/>
        </p:spPr>
        <p:txBody>
          <a:bodyPr wrap="square" lIns="0" tIns="0" rIns="0" bIns="0" anchor="t">
            <a:spAutoFit/>
          </a:bodyPr>
          <a:lstStyle/>
          <a:p>
            <a:pPr algn="l">
              <a:spcAft>
                <a:spcPts val="300"/>
              </a:spcAft>
            </a:pPr>
            <a:r>
              <a:rPr sz="1050" b="1" i="0">
                <a:solidFill>
                  <a:srgbClr val="1F5FAA"/>
                </a:solidFill>
              </a:rPr>
              <a:t>THE FLAW</a:t>
            </a:r>
          </a:p>
        </p:txBody>
      </p:sp>
      <p:sp>
        <p:nvSpPr>
          <p:cNvPr id="43" name="TextBox 42"/>
          <p:cNvSpPr txBox="1"/>
          <p:nvPr/>
        </p:nvSpPr>
        <p:spPr>
          <a:xfrm>
            <a:off x="4480559" y="2944368"/>
            <a:ext cx="3246120" cy="594360"/>
          </a:xfrm>
          <a:prstGeom prst="rect">
            <a:avLst/>
          </a:prstGeom>
          <a:noFill/>
        </p:spPr>
        <p:txBody>
          <a:bodyPr wrap="square" lIns="0" tIns="0" rIns="0" bIns="0" anchor="t">
            <a:spAutoFit/>
          </a:bodyPr>
          <a:lstStyle/>
          <a:p>
            <a:pPr algn="l">
              <a:spcAft>
                <a:spcPts val="300"/>
              </a:spcAft>
            </a:pPr>
            <a:r>
              <a:rPr sz="1350" b="1" i="0">
                <a:solidFill>
                  <a:srgbClr val="1A1A1A"/>
                </a:solidFill>
              </a:rPr>
              <a:t>A saved comment is rendered as executable HTML.</a:t>
            </a:r>
          </a:p>
        </p:txBody>
      </p:sp>
      <p:sp>
        <p:nvSpPr>
          <p:cNvPr id="44" name="Rounded Rectangle 43"/>
          <p:cNvSpPr/>
          <p:nvPr/>
        </p:nvSpPr>
        <p:spPr>
          <a:xfrm>
            <a:off x="4434840" y="3611880"/>
            <a:ext cx="3319272" cy="1143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571999" y="3657600"/>
            <a:ext cx="3017520" cy="228600"/>
          </a:xfrm>
          <a:prstGeom prst="rect">
            <a:avLst/>
          </a:prstGeom>
          <a:noFill/>
        </p:spPr>
        <p:txBody>
          <a:bodyPr wrap="square" lIns="0" tIns="0" rIns="0" bIns="0" anchor="t">
            <a:spAutoFit/>
          </a:bodyPr>
          <a:lstStyle/>
          <a:p>
            <a:pPr algn="l">
              <a:spcAft>
                <a:spcPts val="300"/>
              </a:spcAft>
            </a:pPr>
            <a:r>
              <a:rPr sz="1050" b="1" i="0">
                <a:solidFill>
                  <a:srgbClr val="A42530"/>
                </a:solidFill>
              </a:rPr>
              <a:t>VULNERABLE MODE</a:t>
            </a:r>
          </a:p>
        </p:txBody>
      </p:sp>
      <p:sp>
        <p:nvSpPr>
          <p:cNvPr id="46" name="TextBox 45"/>
          <p:cNvSpPr txBox="1"/>
          <p:nvPr/>
        </p:nvSpPr>
        <p:spPr>
          <a:xfrm>
            <a:off x="4571999" y="3886200"/>
            <a:ext cx="3063240" cy="868680"/>
          </a:xfrm>
          <a:prstGeom prst="rect">
            <a:avLst/>
          </a:prstGeom>
          <a:noFill/>
        </p:spPr>
        <p:txBody>
          <a:bodyPr wrap="square" lIns="0" tIns="0" rIns="0" bIns="0" anchor="t">
            <a:spAutoFit/>
          </a:bodyPr>
          <a:lstStyle/>
          <a:p>
            <a:pPr algn="l">
              <a:spcAft>
                <a:spcPts val="300"/>
              </a:spcAft>
            </a:pPr>
            <a:r>
              <a:rPr sz="1300" b="0" i="0">
                <a:solidFill>
                  <a:srgbClr val="1A1A1A"/>
                </a:solidFill>
              </a:rPr>
              <a:t>No output escaping; CSP relaxed on /labs/xss only. Session cookie stays HTTP-only.</a:t>
            </a:r>
          </a:p>
        </p:txBody>
      </p:sp>
      <p:sp>
        <p:nvSpPr>
          <p:cNvPr id="47" name="Rounded Rectangle 46"/>
          <p:cNvSpPr/>
          <p:nvPr/>
        </p:nvSpPr>
        <p:spPr>
          <a:xfrm>
            <a:off x="4434840" y="4846320"/>
            <a:ext cx="3319272" cy="868680"/>
          </a:xfrm>
          <a:prstGeom prst="roundRect">
            <a:avLst>
              <a:gd name="adj" fmla="val 8000"/>
            </a:avLst>
          </a:prstGeom>
          <a:solidFill>
            <a:srgbClr val="E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571999" y="4892040"/>
            <a:ext cx="3017520" cy="228600"/>
          </a:xfrm>
          <a:prstGeom prst="rect">
            <a:avLst/>
          </a:prstGeom>
          <a:noFill/>
        </p:spPr>
        <p:txBody>
          <a:bodyPr wrap="square" lIns="0" tIns="0" rIns="0" bIns="0" anchor="t">
            <a:spAutoFit/>
          </a:bodyPr>
          <a:lstStyle/>
          <a:p>
            <a:pPr algn="l">
              <a:spcAft>
                <a:spcPts val="300"/>
              </a:spcAft>
            </a:pPr>
            <a:r>
              <a:rPr sz="1050" b="1" i="0">
                <a:solidFill>
                  <a:srgbClr val="3E7D3A"/>
                </a:solidFill>
              </a:rPr>
              <a:t>SAFE MODE</a:t>
            </a:r>
          </a:p>
        </p:txBody>
      </p:sp>
      <p:sp>
        <p:nvSpPr>
          <p:cNvPr id="49" name="TextBox 48"/>
          <p:cNvSpPr txBox="1"/>
          <p:nvPr/>
        </p:nvSpPr>
        <p:spPr>
          <a:xfrm>
            <a:off x="4571999" y="5120640"/>
            <a:ext cx="3063240" cy="566928"/>
          </a:xfrm>
          <a:prstGeom prst="rect">
            <a:avLst/>
          </a:prstGeom>
          <a:noFill/>
        </p:spPr>
        <p:txBody>
          <a:bodyPr wrap="square" lIns="0" tIns="0" rIns="0" bIns="0" anchor="t">
            <a:spAutoFit/>
          </a:bodyPr>
          <a:lstStyle/>
          <a:p>
            <a:pPr algn="l">
              <a:spcAft>
                <a:spcPts val="300"/>
              </a:spcAft>
            </a:pPr>
            <a:r>
              <a:rPr sz="1300" b="0" i="0">
                <a:solidFill>
                  <a:srgbClr val="1A1A1A"/>
                </a:solidFill>
              </a:rPr>
              <a:t>Output escaped; strict CSP restored.</a:t>
            </a:r>
          </a:p>
        </p:txBody>
      </p:sp>
      <p:sp>
        <p:nvSpPr>
          <p:cNvPr id="50" name="card"/>
          <p:cNvSpPr/>
          <p:nvPr/>
        </p:nvSpPr>
        <p:spPr>
          <a:xfrm>
            <a:off x="8046719" y="2103120"/>
            <a:ext cx="3593592" cy="3749039"/>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8046719" y="2103120"/>
            <a:ext cx="3593592" cy="502920"/>
          </a:xfrm>
          <a:prstGeom prst="roundRect">
            <a:avLst>
              <a:gd name="adj" fmla="val 18000"/>
            </a:avLst>
          </a:prstGeom>
          <a:solidFill>
            <a:srgbClr val="3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8046719" y="2377440"/>
            <a:ext cx="3593592" cy="228600"/>
          </a:xfrm>
          <a:prstGeom prst="rect">
            <a:avLst/>
          </a:prstGeom>
          <a:solidFill>
            <a:srgbClr val="3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229599" y="2103120"/>
            <a:ext cx="3200400" cy="502920"/>
          </a:xfrm>
          <a:prstGeom prst="rect">
            <a:avLst/>
          </a:prstGeom>
          <a:noFill/>
        </p:spPr>
        <p:txBody>
          <a:bodyPr wrap="square" lIns="0" tIns="0" rIns="0" bIns="0" anchor="ctr">
            <a:spAutoFit/>
          </a:bodyPr>
          <a:lstStyle/>
          <a:p>
            <a:pPr algn="l">
              <a:spcAft>
                <a:spcPts val="300"/>
              </a:spcAft>
            </a:pPr>
            <a:r>
              <a:rPr sz="1700" b="1" i="0">
                <a:solidFill>
                  <a:srgbClr val="FFFFFF"/>
                </a:solidFill>
              </a:rPr>
              <a:t>IDOR</a:t>
            </a:r>
          </a:p>
        </p:txBody>
      </p:sp>
      <p:sp>
        <p:nvSpPr>
          <p:cNvPr id="54" name="TextBox 53"/>
          <p:cNvSpPr txBox="1"/>
          <p:nvPr/>
        </p:nvSpPr>
        <p:spPr>
          <a:xfrm>
            <a:off x="8229599" y="2724912"/>
            <a:ext cx="3200400" cy="228600"/>
          </a:xfrm>
          <a:prstGeom prst="rect">
            <a:avLst/>
          </a:prstGeom>
          <a:noFill/>
        </p:spPr>
        <p:txBody>
          <a:bodyPr wrap="square" lIns="0" tIns="0" rIns="0" bIns="0" anchor="t">
            <a:spAutoFit/>
          </a:bodyPr>
          <a:lstStyle/>
          <a:p>
            <a:pPr algn="l">
              <a:spcAft>
                <a:spcPts val="300"/>
              </a:spcAft>
            </a:pPr>
            <a:r>
              <a:rPr sz="1050" b="1" i="0">
                <a:solidFill>
                  <a:srgbClr val="3E7D3A"/>
                </a:solidFill>
              </a:rPr>
              <a:t>THE FLAW</a:t>
            </a:r>
          </a:p>
        </p:txBody>
      </p:sp>
      <p:sp>
        <p:nvSpPr>
          <p:cNvPr id="55" name="TextBox 54"/>
          <p:cNvSpPr txBox="1"/>
          <p:nvPr/>
        </p:nvSpPr>
        <p:spPr>
          <a:xfrm>
            <a:off x="8229599" y="2944368"/>
            <a:ext cx="3246120" cy="594360"/>
          </a:xfrm>
          <a:prstGeom prst="rect">
            <a:avLst/>
          </a:prstGeom>
          <a:noFill/>
        </p:spPr>
        <p:txBody>
          <a:bodyPr wrap="square" lIns="0" tIns="0" rIns="0" bIns="0" anchor="t">
            <a:spAutoFit/>
          </a:bodyPr>
          <a:lstStyle/>
          <a:p>
            <a:pPr algn="l">
              <a:spcAft>
                <a:spcPts val="300"/>
              </a:spcAft>
            </a:pPr>
            <a:r>
              <a:rPr sz="1350" b="1" i="0">
                <a:solidFill>
                  <a:srgbClr val="1A1A1A"/>
                </a:solidFill>
              </a:rPr>
              <a:t>Change a document ID to open another user’s file.</a:t>
            </a:r>
          </a:p>
        </p:txBody>
      </p:sp>
      <p:sp>
        <p:nvSpPr>
          <p:cNvPr id="56" name="Rounded Rectangle 55"/>
          <p:cNvSpPr/>
          <p:nvPr/>
        </p:nvSpPr>
        <p:spPr>
          <a:xfrm>
            <a:off x="8183879" y="3611880"/>
            <a:ext cx="3319272" cy="1143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321040" y="3657600"/>
            <a:ext cx="3017520" cy="228600"/>
          </a:xfrm>
          <a:prstGeom prst="rect">
            <a:avLst/>
          </a:prstGeom>
          <a:noFill/>
        </p:spPr>
        <p:txBody>
          <a:bodyPr wrap="square" lIns="0" tIns="0" rIns="0" bIns="0" anchor="t">
            <a:spAutoFit/>
          </a:bodyPr>
          <a:lstStyle/>
          <a:p>
            <a:pPr algn="l">
              <a:spcAft>
                <a:spcPts val="300"/>
              </a:spcAft>
            </a:pPr>
            <a:r>
              <a:rPr sz="1050" b="1" i="0">
                <a:solidFill>
                  <a:srgbClr val="A42530"/>
                </a:solidFill>
              </a:rPr>
              <a:t>VULNERABLE MODE</a:t>
            </a:r>
          </a:p>
        </p:txBody>
      </p:sp>
      <p:sp>
        <p:nvSpPr>
          <p:cNvPr id="58" name="TextBox 57"/>
          <p:cNvSpPr txBox="1"/>
          <p:nvPr/>
        </p:nvSpPr>
        <p:spPr>
          <a:xfrm>
            <a:off x="8321040" y="3886200"/>
            <a:ext cx="3063240" cy="868680"/>
          </a:xfrm>
          <a:prstGeom prst="rect">
            <a:avLst/>
          </a:prstGeom>
          <a:noFill/>
        </p:spPr>
        <p:txBody>
          <a:bodyPr wrap="square" lIns="0" tIns="0" rIns="0" bIns="0" anchor="t">
            <a:spAutoFit/>
          </a:bodyPr>
          <a:lstStyle/>
          <a:p>
            <a:pPr algn="l">
              <a:spcAft>
                <a:spcPts val="300"/>
              </a:spcAft>
            </a:pPr>
            <a:r>
              <a:rPr sz="1300" b="0" i="0">
                <a:solidFill>
                  <a:srgbClr val="1A1A1A"/>
                </a:solidFill>
              </a:rPr>
              <a:t>Ownership check omitted. Login is still required.</a:t>
            </a:r>
          </a:p>
        </p:txBody>
      </p:sp>
      <p:sp>
        <p:nvSpPr>
          <p:cNvPr id="59" name="Rounded Rectangle 58"/>
          <p:cNvSpPr/>
          <p:nvPr/>
        </p:nvSpPr>
        <p:spPr>
          <a:xfrm>
            <a:off x="8183879" y="4846320"/>
            <a:ext cx="3319272" cy="868680"/>
          </a:xfrm>
          <a:prstGeom prst="roundRect">
            <a:avLst>
              <a:gd name="adj" fmla="val 8000"/>
            </a:avLst>
          </a:prstGeom>
          <a:solidFill>
            <a:srgbClr val="E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321040" y="4892040"/>
            <a:ext cx="3017520" cy="228600"/>
          </a:xfrm>
          <a:prstGeom prst="rect">
            <a:avLst/>
          </a:prstGeom>
          <a:noFill/>
        </p:spPr>
        <p:txBody>
          <a:bodyPr wrap="square" lIns="0" tIns="0" rIns="0" bIns="0" anchor="t">
            <a:spAutoFit/>
          </a:bodyPr>
          <a:lstStyle/>
          <a:p>
            <a:pPr algn="l">
              <a:spcAft>
                <a:spcPts val="300"/>
              </a:spcAft>
            </a:pPr>
            <a:r>
              <a:rPr sz="1050" b="1" i="0">
                <a:solidFill>
                  <a:srgbClr val="3E7D3A"/>
                </a:solidFill>
              </a:rPr>
              <a:t>SAFE MODE</a:t>
            </a:r>
          </a:p>
        </p:txBody>
      </p:sp>
      <p:sp>
        <p:nvSpPr>
          <p:cNvPr id="61" name="TextBox 60"/>
          <p:cNvSpPr txBox="1"/>
          <p:nvPr/>
        </p:nvSpPr>
        <p:spPr>
          <a:xfrm>
            <a:off x="8321040" y="5120640"/>
            <a:ext cx="3063240" cy="566928"/>
          </a:xfrm>
          <a:prstGeom prst="rect">
            <a:avLst/>
          </a:prstGeom>
          <a:noFill/>
        </p:spPr>
        <p:txBody>
          <a:bodyPr wrap="square" lIns="0" tIns="0" rIns="0" bIns="0" anchor="t">
            <a:spAutoFit/>
          </a:bodyPr>
          <a:lstStyle/>
          <a:p>
            <a:pPr algn="l">
              <a:spcAft>
                <a:spcPts val="300"/>
              </a:spcAft>
            </a:pPr>
            <a:r>
              <a:rPr sz="1300" b="0" i="0">
                <a:solidFill>
                  <a:srgbClr val="1A1A1A"/>
                </a:solidFill>
              </a:rPr>
              <a:t>Owner verified — otherwise HTTP 403.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5"/>
          </p:nvPr>
        </p:nvSpPr>
        <p:spPr/>
        <p:txBody>
          <a:bodyPr/>
          <a:lstStyle/>
          <a:p>
            <a:r>
              <a:t>04 · DETECTION, CLASSIFICATION &amp; RISK SCORING</a:t>
            </a:r>
          </a:p>
        </p:txBody>
      </p:sp>
      <p:sp>
        <p:nvSpPr>
          <p:cNvPr id="3" name="Title 2"/>
          <p:cNvSpPr>
            <a:spLocks noGrp="1"/>
          </p:cNvSpPr>
          <p:nvPr>
            <p:ph type="title" idx="106"/>
          </p:nvPr>
        </p:nvSpPr>
        <p:spPr/>
        <p:txBody>
          <a:bodyPr/>
          <a:lstStyle/>
          <a:p>
            <a:r>
              <a:t>Nine transparent rules turn an attack into a scored event</a:t>
            </a:r>
          </a:p>
        </p:txBody>
      </p:sp>
      <p:sp>
        <p:nvSpPr>
          <p:cNvPr id="4" name="dot"/>
          <p:cNvSpPr/>
          <p:nvPr/>
        </p:nvSpPr>
        <p:spPr>
          <a:xfrm>
            <a:off x="548640" y="1783080"/>
            <a:ext cx="566928" cy="82296"/>
          </a:xfrm>
          <a:prstGeom prst="roundRect">
            <a:avLst>
              <a:gd name="adj" fmla="val 50000"/>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dot"/>
          <p:cNvSpPr/>
          <p:nvPr/>
        </p:nvSpPr>
        <p:spPr>
          <a:xfrm>
            <a:off x="1188720" y="1783080"/>
            <a:ext cx="384048" cy="82296"/>
          </a:xfrm>
          <a:prstGeom prst="roundRect">
            <a:avLst>
              <a:gd name="adj" fmla="val 50000"/>
            </a:avLst>
          </a:prstGeom>
          <a:solidFill>
            <a:srgbClr val="1F5F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dot"/>
          <p:cNvSpPr/>
          <p:nvPr/>
        </p:nvSpPr>
        <p:spPr>
          <a:xfrm>
            <a:off x="1645920" y="1783080"/>
            <a:ext cx="201168" cy="82296"/>
          </a:xfrm>
          <a:prstGeom prst="roundRect">
            <a:avLst>
              <a:gd name="adj" fmla="val 50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Slide Number Placeholder 0"/>
          <p:cNvSpPr>
            <a:spLocks noGrp="1"/>
          </p:cNvSpPr>
          <p:nvPr>
            <p:ph type="sldNum" sz="quarter" idx="4294967295"/>
          </p:nvPr>
        </p:nvSpPr>
        <p:spPr>
          <a:xfrm>
            <a:off x="11247120" y="59893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1"/>
                </a:solidFill>
              </a:defRPr>
            </a:lvl1pPr>
          </a:lstStyle>
          <a:p>
            <a:pPr algn="r"/>
            <a:fld id="{F7021451-1387-4CA6-816F-3879F97B5CBC}" type="slidenum">
              <a:rPr lang="en-US" b="0"/>
              <a:t>5</a:t>
            </a:fld>
            <a:endParaRPr lang="en-US"/>
          </a:p>
        </p:txBody>
      </p:sp>
      <p:sp>
        <p:nvSpPr>
          <p:cNvPr id="26" name="card"/>
          <p:cNvSpPr/>
          <p:nvPr/>
        </p:nvSpPr>
        <p:spPr>
          <a:xfrm>
            <a:off x="548640" y="2103120"/>
            <a:ext cx="4114800" cy="3749039"/>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1520" y="2194560"/>
            <a:ext cx="3749039" cy="274320"/>
          </a:xfrm>
          <a:prstGeom prst="rect">
            <a:avLst/>
          </a:prstGeom>
          <a:noFill/>
        </p:spPr>
        <p:txBody>
          <a:bodyPr wrap="square" lIns="0" tIns="0" rIns="0" bIns="0" anchor="ctr">
            <a:spAutoFit/>
          </a:bodyPr>
          <a:lstStyle/>
          <a:p>
            <a:pPr algn="l">
              <a:spcAft>
                <a:spcPts val="300"/>
              </a:spcAft>
            </a:pPr>
            <a:r>
              <a:rPr sz="1200" b="1" i="0">
                <a:solidFill>
                  <a:srgbClr val="5B6B7F"/>
                </a:solidFill>
              </a:rPr>
              <a:t>9 DETECTION RULES</a:t>
            </a:r>
          </a:p>
        </p:txBody>
      </p:sp>
      <p:sp>
        <p:nvSpPr>
          <p:cNvPr id="28" name="TextBox 27"/>
          <p:cNvSpPr txBox="1"/>
          <p:nvPr/>
        </p:nvSpPr>
        <p:spPr>
          <a:xfrm>
            <a:off x="731520" y="2542032"/>
            <a:ext cx="3749039" cy="256032"/>
          </a:xfrm>
          <a:prstGeom prst="rect">
            <a:avLst/>
          </a:prstGeom>
          <a:noFill/>
        </p:spPr>
        <p:txBody>
          <a:bodyPr wrap="square" lIns="0" tIns="0" rIns="0" bIns="0" anchor="ctr">
            <a:spAutoFit/>
          </a:bodyPr>
          <a:lstStyle/>
          <a:p>
            <a:pPr algn="l">
              <a:spcAft>
                <a:spcPts val="300"/>
              </a:spcAft>
            </a:pPr>
            <a:r>
              <a:rPr sz="1250" b="1" i="0">
                <a:solidFill>
                  <a:srgbClr val="A42530"/>
                </a:solidFill>
              </a:rPr>
              <a:t>SQL injection · 4</a:t>
            </a:r>
          </a:p>
        </p:txBody>
      </p:sp>
      <p:sp>
        <p:nvSpPr>
          <p:cNvPr id="29" name="Rounded Rectangle 28"/>
          <p:cNvSpPr/>
          <p:nvPr/>
        </p:nvSpPr>
        <p:spPr>
          <a:xfrm>
            <a:off x="731520" y="2834639"/>
            <a:ext cx="115763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100" b="0">
                <a:solidFill>
                  <a:srgbClr val="1A1A1A"/>
                </a:solidFill>
              </a:rPr>
              <a:t>UNION SELECT</a:t>
            </a:r>
          </a:p>
        </p:txBody>
      </p:sp>
      <p:sp>
        <p:nvSpPr>
          <p:cNvPr id="30" name="Rounded Rectangle 29"/>
          <p:cNvSpPr/>
          <p:nvPr/>
        </p:nvSpPr>
        <p:spPr>
          <a:xfrm>
            <a:off x="1962302" y="2834639"/>
            <a:ext cx="1233525"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100" b="0">
                <a:solidFill>
                  <a:srgbClr val="1A1A1A"/>
                </a:solidFill>
              </a:rPr>
              <a:t>Stacked query</a:t>
            </a:r>
          </a:p>
        </p:txBody>
      </p:sp>
      <p:sp>
        <p:nvSpPr>
          <p:cNvPr id="31" name="Rounded Rectangle 30"/>
          <p:cNvSpPr/>
          <p:nvPr/>
        </p:nvSpPr>
        <p:spPr>
          <a:xfrm>
            <a:off x="3268980" y="2834639"/>
            <a:ext cx="929944"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100" b="0">
                <a:solidFill>
                  <a:srgbClr val="1A1A1A"/>
                </a:solidFill>
              </a:rPr>
              <a:t>Tautology</a:t>
            </a:r>
          </a:p>
        </p:txBody>
      </p:sp>
      <p:sp>
        <p:nvSpPr>
          <p:cNvPr id="32" name="Rounded Rectangle 31"/>
          <p:cNvSpPr/>
          <p:nvPr/>
        </p:nvSpPr>
        <p:spPr>
          <a:xfrm>
            <a:off x="731520" y="3172968"/>
            <a:ext cx="1613001"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100" b="0">
                <a:solidFill>
                  <a:srgbClr val="1A1A1A"/>
                </a:solidFill>
              </a:rPr>
              <a:t>Comment terminator</a:t>
            </a:r>
          </a:p>
        </p:txBody>
      </p:sp>
      <p:sp>
        <p:nvSpPr>
          <p:cNvPr id="33" name="TextBox 32"/>
          <p:cNvSpPr txBox="1"/>
          <p:nvPr/>
        </p:nvSpPr>
        <p:spPr>
          <a:xfrm>
            <a:off x="731520" y="3630168"/>
            <a:ext cx="3749039" cy="256032"/>
          </a:xfrm>
          <a:prstGeom prst="rect">
            <a:avLst/>
          </a:prstGeom>
          <a:noFill/>
        </p:spPr>
        <p:txBody>
          <a:bodyPr wrap="square" lIns="0" tIns="0" rIns="0" bIns="0" anchor="ctr">
            <a:spAutoFit/>
          </a:bodyPr>
          <a:lstStyle/>
          <a:p>
            <a:pPr algn="l">
              <a:spcAft>
                <a:spcPts val="300"/>
              </a:spcAft>
            </a:pPr>
            <a:r>
              <a:rPr sz="1250" b="1" i="0">
                <a:solidFill>
                  <a:srgbClr val="1F5FAA"/>
                </a:solidFill>
              </a:rPr>
              <a:t>XSS · 4</a:t>
            </a:r>
          </a:p>
        </p:txBody>
      </p:sp>
      <p:sp>
        <p:nvSpPr>
          <p:cNvPr id="34" name="Rounded Rectangle 33"/>
          <p:cNvSpPr/>
          <p:nvPr/>
        </p:nvSpPr>
        <p:spPr>
          <a:xfrm>
            <a:off x="731520" y="3922776"/>
            <a:ext cx="100584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100" b="0">
                <a:solidFill>
                  <a:srgbClr val="1A1A1A"/>
                </a:solidFill>
              </a:rPr>
              <a:t>Script tag</a:t>
            </a:r>
          </a:p>
        </p:txBody>
      </p:sp>
      <p:sp>
        <p:nvSpPr>
          <p:cNvPr id="35" name="Rounded Rectangle 34"/>
          <p:cNvSpPr/>
          <p:nvPr/>
        </p:nvSpPr>
        <p:spPr>
          <a:xfrm>
            <a:off x="1810512" y="3922776"/>
            <a:ext cx="1233525"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100" b="0">
                <a:solidFill>
                  <a:srgbClr val="1A1A1A"/>
                </a:solidFill>
              </a:rPr>
              <a:t>Event handler</a:t>
            </a:r>
          </a:p>
        </p:txBody>
      </p:sp>
      <p:sp>
        <p:nvSpPr>
          <p:cNvPr id="36" name="Rounded Rectangle 35"/>
          <p:cNvSpPr/>
          <p:nvPr/>
        </p:nvSpPr>
        <p:spPr>
          <a:xfrm>
            <a:off x="3117189" y="3922776"/>
            <a:ext cx="130942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100" b="0">
                <a:solidFill>
                  <a:srgbClr val="1A1A1A"/>
                </a:solidFill>
              </a:rPr>
              <a:t>JavaScript URI</a:t>
            </a:r>
          </a:p>
        </p:txBody>
      </p:sp>
      <p:sp>
        <p:nvSpPr>
          <p:cNvPr id="37" name="Rounded Rectangle 36"/>
          <p:cNvSpPr/>
          <p:nvPr/>
        </p:nvSpPr>
        <p:spPr>
          <a:xfrm>
            <a:off x="731520" y="4261104"/>
            <a:ext cx="130942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100" b="0">
                <a:solidFill>
                  <a:srgbClr val="1A1A1A"/>
                </a:solidFill>
              </a:rPr>
              <a:t>HTML injection</a:t>
            </a:r>
          </a:p>
        </p:txBody>
      </p:sp>
      <p:sp>
        <p:nvSpPr>
          <p:cNvPr id="38" name="TextBox 37"/>
          <p:cNvSpPr txBox="1"/>
          <p:nvPr/>
        </p:nvSpPr>
        <p:spPr>
          <a:xfrm>
            <a:off x="731520" y="4718304"/>
            <a:ext cx="3749039" cy="256032"/>
          </a:xfrm>
          <a:prstGeom prst="rect">
            <a:avLst/>
          </a:prstGeom>
          <a:noFill/>
        </p:spPr>
        <p:txBody>
          <a:bodyPr wrap="square" lIns="0" tIns="0" rIns="0" bIns="0" anchor="ctr">
            <a:spAutoFit/>
          </a:bodyPr>
          <a:lstStyle/>
          <a:p>
            <a:pPr algn="l">
              <a:spcAft>
                <a:spcPts val="300"/>
              </a:spcAft>
            </a:pPr>
            <a:r>
              <a:rPr sz="1250" b="1" i="0">
                <a:solidFill>
                  <a:srgbClr val="3E7D3A"/>
                </a:solidFill>
              </a:rPr>
              <a:t>IDOR · 1</a:t>
            </a:r>
          </a:p>
        </p:txBody>
      </p:sp>
      <p:sp>
        <p:nvSpPr>
          <p:cNvPr id="39" name="Rounded Rectangle 38"/>
          <p:cNvSpPr/>
          <p:nvPr/>
        </p:nvSpPr>
        <p:spPr>
          <a:xfrm>
            <a:off x="731520" y="5010912"/>
            <a:ext cx="1840687"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100" b="0">
                <a:solidFill>
                  <a:srgbClr val="1A1A1A"/>
                </a:solidFill>
              </a:rPr>
              <a:t>User ≠ document owner</a:t>
            </a:r>
          </a:p>
        </p:txBody>
      </p:sp>
      <p:sp>
        <p:nvSpPr>
          <p:cNvPr id="40" name="card"/>
          <p:cNvSpPr/>
          <p:nvPr/>
        </p:nvSpPr>
        <p:spPr>
          <a:xfrm>
            <a:off x="4846320" y="2103120"/>
            <a:ext cx="3429000" cy="3749039"/>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029200" y="2194560"/>
            <a:ext cx="3108960" cy="274320"/>
          </a:xfrm>
          <a:prstGeom prst="rect">
            <a:avLst/>
          </a:prstGeom>
          <a:noFill/>
        </p:spPr>
        <p:txBody>
          <a:bodyPr wrap="square" lIns="0" tIns="0" rIns="0" bIns="0" anchor="ctr">
            <a:spAutoFit/>
          </a:bodyPr>
          <a:lstStyle/>
          <a:p>
            <a:pPr algn="l">
              <a:spcAft>
                <a:spcPts val="300"/>
              </a:spcAft>
            </a:pPr>
            <a:r>
              <a:rPr sz="1200" b="1" i="0">
                <a:solidFill>
                  <a:srgbClr val="5B6B7F"/>
                </a:solidFill>
              </a:rPr>
              <a:t>EDUCATIONAL RISK SCORE</a:t>
            </a:r>
          </a:p>
        </p:txBody>
      </p:sp>
      <p:sp>
        <p:nvSpPr>
          <p:cNvPr id="42" name="TextBox 41"/>
          <p:cNvSpPr txBox="1"/>
          <p:nvPr/>
        </p:nvSpPr>
        <p:spPr>
          <a:xfrm>
            <a:off x="5029200" y="2542032"/>
            <a:ext cx="731520" cy="310896"/>
          </a:xfrm>
          <a:prstGeom prst="rect">
            <a:avLst/>
          </a:prstGeom>
          <a:noFill/>
        </p:spPr>
        <p:txBody>
          <a:bodyPr wrap="square" lIns="0" tIns="0" rIns="0" bIns="0" anchor="ctr">
            <a:spAutoFit/>
          </a:bodyPr>
          <a:lstStyle/>
          <a:p>
            <a:pPr algn="l">
              <a:spcAft>
                <a:spcPts val="300"/>
              </a:spcAft>
            </a:pPr>
            <a:r>
              <a:rPr sz="1300" b="1" i="0">
                <a:solidFill>
                  <a:srgbClr val="A42530"/>
                </a:solidFill>
              </a:rPr>
              <a:t>Base</a:t>
            </a:r>
          </a:p>
        </p:txBody>
      </p:sp>
      <p:sp>
        <p:nvSpPr>
          <p:cNvPr id="43" name="TextBox 42"/>
          <p:cNvSpPr txBox="1"/>
          <p:nvPr/>
        </p:nvSpPr>
        <p:spPr>
          <a:xfrm>
            <a:off x="5760720" y="2542032"/>
            <a:ext cx="2423160" cy="310896"/>
          </a:xfrm>
          <a:prstGeom prst="rect">
            <a:avLst/>
          </a:prstGeom>
          <a:noFill/>
        </p:spPr>
        <p:txBody>
          <a:bodyPr wrap="square" lIns="0" tIns="0" rIns="0" bIns="0" anchor="ctr">
            <a:spAutoFit/>
          </a:bodyPr>
          <a:lstStyle/>
          <a:p>
            <a:pPr algn="l">
              <a:spcAft>
                <a:spcPts val="300"/>
              </a:spcAft>
            </a:pPr>
            <a:r>
              <a:rPr sz="1250" b="0" i="0">
                <a:solidFill>
                  <a:srgbClr val="1A1A1A"/>
                </a:solidFill>
              </a:rPr>
              <a:t>SQLi 90 · XSS 80 · IDOR 85</a:t>
            </a:r>
          </a:p>
        </p:txBody>
      </p:sp>
      <p:sp>
        <p:nvSpPr>
          <p:cNvPr id="44" name="TextBox 43"/>
          <p:cNvSpPr txBox="1"/>
          <p:nvPr/>
        </p:nvSpPr>
        <p:spPr>
          <a:xfrm>
            <a:off x="5029200" y="2907791"/>
            <a:ext cx="731520" cy="310896"/>
          </a:xfrm>
          <a:prstGeom prst="rect">
            <a:avLst/>
          </a:prstGeom>
          <a:noFill/>
        </p:spPr>
        <p:txBody>
          <a:bodyPr wrap="square" lIns="0" tIns="0" rIns="0" bIns="0" anchor="ctr">
            <a:spAutoFit/>
          </a:bodyPr>
          <a:lstStyle/>
          <a:p>
            <a:pPr algn="l">
              <a:spcAft>
                <a:spcPts val="300"/>
              </a:spcAft>
            </a:pPr>
            <a:r>
              <a:rPr sz="1300" b="1" i="0">
                <a:solidFill>
                  <a:srgbClr val="A42530"/>
                </a:solidFill>
              </a:rPr>
              <a:t>+5</a:t>
            </a:r>
          </a:p>
        </p:txBody>
      </p:sp>
      <p:sp>
        <p:nvSpPr>
          <p:cNvPr id="45" name="TextBox 44"/>
          <p:cNvSpPr txBox="1"/>
          <p:nvPr/>
        </p:nvSpPr>
        <p:spPr>
          <a:xfrm>
            <a:off x="5760720" y="2907791"/>
            <a:ext cx="2423160" cy="310896"/>
          </a:xfrm>
          <a:prstGeom prst="rect">
            <a:avLst/>
          </a:prstGeom>
          <a:noFill/>
        </p:spPr>
        <p:txBody>
          <a:bodyPr wrap="square" lIns="0" tIns="0" rIns="0" bIns="0" anchor="ctr">
            <a:spAutoFit/>
          </a:bodyPr>
          <a:lstStyle/>
          <a:p>
            <a:pPr algn="l">
              <a:spcAft>
                <a:spcPts val="300"/>
              </a:spcAft>
            </a:pPr>
            <a:r>
              <a:rPr sz="1250" b="0" i="0">
                <a:solidFill>
                  <a:srgbClr val="1A1A1A"/>
                </a:solidFill>
              </a:rPr>
              <a:t>attack succeeded</a:t>
            </a:r>
          </a:p>
        </p:txBody>
      </p:sp>
      <p:sp>
        <p:nvSpPr>
          <p:cNvPr id="46" name="TextBox 45"/>
          <p:cNvSpPr txBox="1"/>
          <p:nvPr/>
        </p:nvSpPr>
        <p:spPr>
          <a:xfrm>
            <a:off x="5029200" y="3273552"/>
            <a:ext cx="731520" cy="310896"/>
          </a:xfrm>
          <a:prstGeom prst="rect">
            <a:avLst/>
          </a:prstGeom>
          <a:noFill/>
        </p:spPr>
        <p:txBody>
          <a:bodyPr wrap="square" lIns="0" tIns="0" rIns="0" bIns="0" anchor="ctr">
            <a:spAutoFit/>
          </a:bodyPr>
          <a:lstStyle/>
          <a:p>
            <a:pPr algn="l">
              <a:spcAft>
                <a:spcPts val="300"/>
              </a:spcAft>
            </a:pPr>
            <a:r>
              <a:rPr sz="1300" b="1" i="0">
                <a:solidFill>
                  <a:srgbClr val="A42530"/>
                </a:solidFill>
              </a:rPr>
              <a:t>+5</a:t>
            </a:r>
          </a:p>
        </p:txBody>
      </p:sp>
      <p:sp>
        <p:nvSpPr>
          <p:cNvPr id="47" name="TextBox 46"/>
          <p:cNvSpPr txBox="1"/>
          <p:nvPr/>
        </p:nvSpPr>
        <p:spPr>
          <a:xfrm>
            <a:off x="5760720" y="3273552"/>
            <a:ext cx="2423160" cy="310896"/>
          </a:xfrm>
          <a:prstGeom prst="rect">
            <a:avLst/>
          </a:prstGeom>
          <a:noFill/>
        </p:spPr>
        <p:txBody>
          <a:bodyPr wrap="square" lIns="0" tIns="0" rIns="0" bIns="0" anchor="ctr">
            <a:spAutoFit/>
          </a:bodyPr>
          <a:lstStyle/>
          <a:p>
            <a:pPr algn="l">
              <a:spcAft>
                <a:spcPts val="300"/>
              </a:spcAft>
            </a:pPr>
            <a:r>
              <a:rPr sz="1250" b="0" i="0">
                <a:solidFill>
                  <a:srgbClr val="1A1A1A"/>
                </a:solidFill>
              </a:rPr>
              <a:t>authenticated actor</a:t>
            </a:r>
          </a:p>
        </p:txBody>
      </p:sp>
      <p:sp>
        <p:nvSpPr>
          <p:cNvPr id="48" name="TextBox 47"/>
          <p:cNvSpPr txBox="1"/>
          <p:nvPr/>
        </p:nvSpPr>
        <p:spPr>
          <a:xfrm>
            <a:off x="5029200" y="3639312"/>
            <a:ext cx="731520" cy="310896"/>
          </a:xfrm>
          <a:prstGeom prst="rect">
            <a:avLst/>
          </a:prstGeom>
          <a:noFill/>
        </p:spPr>
        <p:txBody>
          <a:bodyPr wrap="square" lIns="0" tIns="0" rIns="0" bIns="0" anchor="ctr">
            <a:spAutoFit/>
          </a:bodyPr>
          <a:lstStyle/>
          <a:p>
            <a:pPr algn="l">
              <a:spcAft>
                <a:spcPts val="300"/>
              </a:spcAft>
            </a:pPr>
            <a:r>
              <a:rPr sz="1300" b="1" i="0">
                <a:solidFill>
                  <a:srgbClr val="A42530"/>
                </a:solidFill>
              </a:rPr>
              <a:t>−10</a:t>
            </a:r>
          </a:p>
        </p:txBody>
      </p:sp>
      <p:sp>
        <p:nvSpPr>
          <p:cNvPr id="49" name="TextBox 48"/>
          <p:cNvSpPr txBox="1"/>
          <p:nvPr/>
        </p:nvSpPr>
        <p:spPr>
          <a:xfrm>
            <a:off x="5760720" y="3639312"/>
            <a:ext cx="2423160" cy="310896"/>
          </a:xfrm>
          <a:prstGeom prst="rect">
            <a:avLst/>
          </a:prstGeom>
          <a:noFill/>
        </p:spPr>
        <p:txBody>
          <a:bodyPr wrap="square" lIns="0" tIns="0" rIns="0" bIns="0" anchor="ctr">
            <a:spAutoFit/>
          </a:bodyPr>
          <a:lstStyle/>
          <a:p>
            <a:pPr algn="l">
              <a:spcAft>
                <a:spcPts val="300"/>
              </a:spcAft>
            </a:pPr>
            <a:r>
              <a:rPr sz="1250" b="0" i="0">
                <a:solidFill>
                  <a:srgbClr val="1A1A1A"/>
                </a:solidFill>
              </a:rPr>
              <a:t>blocked or neutralized</a:t>
            </a:r>
          </a:p>
        </p:txBody>
      </p:sp>
      <p:sp>
        <p:nvSpPr>
          <p:cNvPr id="50" name="TextBox 49"/>
          <p:cNvSpPr txBox="1"/>
          <p:nvPr/>
        </p:nvSpPr>
        <p:spPr>
          <a:xfrm>
            <a:off x="5029200" y="4005072"/>
            <a:ext cx="731520" cy="310896"/>
          </a:xfrm>
          <a:prstGeom prst="rect">
            <a:avLst/>
          </a:prstGeom>
          <a:noFill/>
        </p:spPr>
        <p:txBody>
          <a:bodyPr wrap="square" lIns="0" tIns="0" rIns="0" bIns="0" anchor="ctr">
            <a:spAutoFit/>
          </a:bodyPr>
          <a:lstStyle/>
          <a:p>
            <a:pPr algn="l">
              <a:spcAft>
                <a:spcPts val="300"/>
              </a:spcAft>
            </a:pPr>
            <a:r>
              <a:rPr sz="1300" b="1" i="0">
                <a:solidFill>
                  <a:srgbClr val="A42530"/>
                </a:solidFill>
              </a:rPr>
              <a:t>0–100</a:t>
            </a:r>
          </a:p>
        </p:txBody>
      </p:sp>
      <p:sp>
        <p:nvSpPr>
          <p:cNvPr id="51" name="TextBox 50"/>
          <p:cNvSpPr txBox="1"/>
          <p:nvPr/>
        </p:nvSpPr>
        <p:spPr>
          <a:xfrm>
            <a:off x="5760720" y="4005072"/>
            <a:ext cx="2423160" cy="310896"/>
          </a:xfrm>
          <a:prstGeom prst="rect">
            <a:avLst/>
          </a:prstGeom>
          <a:noFill/>
        </p:spPr>
        <p:txBody>
          <a:bodyPr wrap="square" lIns="0" tIns="0" rIns="0" bIns="0" anchor="ctr">
            <a:spAutoFit/>
          </a:bodyPr>
          <a:lstStyle/>
          <a:p>
            <a:pPr algn="l">
              <a:spcAft>
                <a:spcPts val="300"/>
              </a:spcAft>
            </a:pPr>
            <a:r>
              <a:rPr sz="1250" b="0" i="0">
                <a:solidFill>
                  <a:srgbClr val="1A1A1A"/>
                </a:solidFill>
              </a:rPr>
              <a:t>clamped</a:t>
            </a:r>
          </a:p>
        </p:txBody>
      </p:sp>
      <p:sp>
        <p:nvSpPr>
          <p:cNvPr id="52" name="Rounded Rectangle 51"/>
          <p:cNvSpPr/>
          <p:nvPr/>
        </p:nvSpPr>
        <p:spPr>
          <a:xfrm>
            <a:off x="5029200" y="4462272"/>
            <a:ext cx="1517904" cy="292608"/>
          </a:xfrm>
          <a:prstGeom prst="roundRect">
            <a:avLst>
              <a:gd name="adj" fmla="val 50000"/>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050" b="1">
                <a:solidFill>
                  <a:srgbClr val="FFFFFF"/>
                </a:solidFill>
              </a:rPr>
              <a:t>CRITICAL 90–100</a:t>
            </a:r>
          </a:p>
        </p:txBody>
      </p:sp>
      <p:sp>
        <p:nvSpPr>
          <p:cNvPr id="53" name="Rounded Rectangle 52"/>
          <p:cNvSpPr/>
          <p:nvPr/>
        </p:nvSpPr>
        <p:spPr>
          <a:xfrm>
            <a:off x="6620256" y="4462272"/>
            <a:ext cx="1517904" cy="292608"/>
          </a:xfrm>
          <a:prstGeom prst="roundRect">
            <a:avLst>
              <a:gd name="adj" fmla="val 50000"/>
            </a:avLst>
          </a:prstGeom>
          <a:solidFill>
            <a:srgbClr val="C96A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050" b="1">
                <a:solidFill>
                  <a:srgbClr val="FFFFFF"/>
                </a:solidFill>
              </a:rPr>
              <a:t>HIGH 75–89</a:t>
            </a:r>
          </a:p>
        </p:txBody>
      </p:sp>
      <p:sp>
        <p:nvSpPr>
          <p:cNvPr id="54" name="Rounded Rectangle 53"/>
          <p:cNvSpPr/>
          <p:nvPr/>
        </p:nvSpPr>
        <p:spPr>
          <a:xfrm>
            <a:off x="5029200" y="4828032"/>
            <a:ext cx="1517904" cy="292608"/>
          </a:xfrm>
          <a:prstGeom prst="roundRect">
            <a:avLst>
              <a:gd name="adj" fmla="val 50000"/>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050" b="1">
                <a:solidFill>
                  <a:srgbClr val="FFFFFF"/>
                </a:solidFill>
              </a:rPr>
              <a:t>MEDIUM 50–74</a:t>
            </a:r>
          </a:p>
        </p:txBody>
      </p:sp>
      <p:sp>
        <p:nvSpPr>
          <p:cNvPr id="55" name="Rounded Rectangle 54"/>
          <p:cNvSpPr/>
          <p:nvPr/>
        </p:nvSpPr>
        <p:spPr>
          <a:xfrm>
            <a:off x="6620256" y="4828032"/>
            <a:ext cx="1517904" cy="292608"/>
          </a:xfrm>
          <a:prstGeom prst="roundRect">
            <a:avLst>
              <a:gd name="adj" fmla="val 50000"/>
            </a:avLst>
          </a:prstGeom>
          <a:solidFill>
            <a:srgbClr val="3E7D3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050" b="1">
                <a:solidFill>
                  <a:srgbClr val="FFFFFF"/>
                </a:solidFill>
              </a:rPr>
              <a:t>LOW 0–49</a:t>
            </a:r>
          </a:p>
        </p:txBody>
      </p:sp>
      <p:sp>
        <p:nvSpPr>
          <p:cNvPr id="56" name="TextBox 55"/>
          <p:cNvSpPr txBox="1"/>
          <p:nvPr/>
        </p:nvSpPr>
        <p:spPr>
          <a:xfrm>
            <a:off x="5029200" y="5257800"/>
            <a:ext cx="3108960" cy="548640"/>
          </a:xfrm>
          <a:prstGeom prst="rect">
            <a:avLst/>
          </a:prstGeom>
          <a:noFill/>
        </p:spPr>
        <p:txBody>
          <a:bodyPr wrap="square" lIns="0" tIns="0" rIns="0" bIns="0" anchor="t">
            <a:spAutoFit/>
          </a:bodyPr>
          <a:lstStyle/>
          <a:p>
            <a:pPr algn="l">
              <a:spcAft>
                <a:spcPts val="300"/>
              </a:spcAft>
            </a:pPr>
            <a:r>
              <a:rPr sz="1150" b="1" i="0">
                <a:solidFill>
                  <a:srgbClr val="A42530"/>
                </a:solidFill>
              </a:rPr>
              <a:t>Not CVSS. </a:t>
            </a:r>
            <a:r>
              <a:rPr sz="1150" b="0" i="0">
                <a:solidFill>
                  <a:srgbClr val="1A1A1A"/>
                </a:solidFill>
              </a:rPr>
              <a:t>Rule-based detection — not AI/ML, not a WAF.</a:t>
            </a:r>
          </a:p>
        </p:txBody>
      </p:sp>
      <p:sp>
        <p:nvSpPr>
          <p:cNvPr id="57" name="card"/>
          <p:cNvSpPr/>
          <p:nvPr/>
        </p:nvSpPr>
        <p:spPr>
          <a:xfrm>
            <a:off x="8458200" y="2103120"/>
            <a:ext cx="3182112" cy="3749039"/>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641080" y="2194560"/>
            <a:ext cx="2834640" cy="274320"/>
          </a:xfrm>
          <a:prstGeom prst="rect">
            <a:avLst/>
          </a:prstGeom>
          <a:noFill/>
        </p:spPr>
        <p:txBody>
          <a:bodyPr wrap="square" lIns="0" tIns="0" rIns="0" bIns="0" anchor="ctr">
            <a:spAutoFit/>
          </a:bodyPr>
          <a:lstStyle/>
          <a:p>
            <a:pPr algn="l">
              <a:spcAft>
                <a:spcPts val="300"/>
              </a:spcAft>
            </a:pPr>
            <a:r>
              <a:rPr sz="1200" b="1" i="0">
                <a:solidFill>
                  <a:srgbClr val="5B6B7F"/>
                </a:solidFill>
              </a:rPr>
              <a:t>SAME ATTACK, TWO MODES</a:t>
            </a:r>
          </a:p>
        </p:txBody>
      </p:sp>
      <p:graphicFrame>
        <p:nvGraphicFramePr>
          <p:cNvPr id="59" name="risk-chart"/>
          <p:cNvGraphicFramePr>
            <a:graphicFrameLocks noGrp="1"/>
          </p:cNvGraphicFramePr>
          <p:nvPr/>
        </p:nvGraphicFramePr>
        <p:xfrm>
          <a:off x="8503920" y="2468880"/>
          <a:ext cx="3090672" cy="33375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5"/>
          </p:nvPr>
        </p:nvSpPr>
        <p:spPr/>
        <p:txBody>
          <a:bodyPr/>
          <a:lstStyle/>
          <a:p>
            <a:r>
              <a:t>05 · SECURITY MECHANISMS &amp; HARDENING</a:t>
            </a:r>
          </a:p>
        </p:txBody>
      </p:sp>
      <p:sp>
        <p:nvSpPr>
          <p:cNvPr id="3" name="Title 2"/>
          <p:cNvSpPr>
            <a:spLocks noGrp="1"/>
          </p:cNvSpPr>
          <p:nvPr>
            <p:ph type="title" idx="106"/>
          </p:nvPr>
        </p:nvSpPr>
        <p:spPr/>
        <p:txBody>
          <a:bodyPr/>
          <a:lstStyle/>
          <a:p>
            <a:r>
              <a:t>Only the flaw is weakened — everything else stays on</a:t>
            </a:r>
          </a:p>
        </p:txBody>
      </p:sp>
      <p:sp>
        <p:nvSpPr>
          <p:cNvPr id="4" name="dot"/>
          <p:cNvSpPr/>
          <p:nvPr/>
        </p:nvSpPr>
        <p:spPr>
          <a:xfrm>
            <a:off x="548640" y="1783080"/>
            <a:ext cx="566928" cy="82296"/>
          </a:xfrm>
          <a:prstGeom prst="roundRect">
            <a:avLst>
              <a:gd name="adj" fmla="val 50000"/>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dot"/>
          <p:cNvSpPr/>
          <p:nvPr/>
        </p:nvSpPr>
        <p:spPr>
          <a:xfrm>
            <a:off x="1188720" y="1783080"/>
            <a:ext cx="384048" cy="82296"/>
          </a:xfrm>
          <a:prstGeom prst="roundRect">
            <a:avLst>
              <a:gd name="adj" fmla="val 50000"/>
            </a:avLst>
          </a:prstGeom>
          <a:solidFill>
            <a:srgbClr val="1F5F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dot"/>
          <p:cNvSpPr/>
          <p:nvPr/>
        </p:nvSpPr>
        <p:spPr>
          <a:xfrm>
            <a:off x="1645920" y="1783080"/>
            <a:ext cx="201168" cy="82296"/>
          </a:xfrm>
          <a:prstGeom prst="roundRect">
            <a:avLst>
              <a:gd name="adj" fmla="val 50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Slide Number Placeholder 0"/>
          <p:cNvSpPr>
            <a:spLocks noGrp="1"/>
          </p:cNvSpPr>
          <p:nvPr>
            <p:ph type="sldNum" sz="quarter" idx="4294967295"/>
          </p:nvPr>
        </p:nvSpPr>
        <p:spPr>
          <a:xfrm>
            <a:off x="11247120" y="59893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1"/>
                </a:solidFill>
              </a:defRPr>
            </a:lvl1pPr>
          </a:lstStyle>
          <a:p>
            <a:pPr algn="r"/>
            <a:fld id="{F7021451-1387-4CA6-816F-3879F97B5CBC}" type="slidenum">
              <a:rPr lang="en-US" b="0"/>
              <a:t>6</a:t>
            </a:fld>
            <a:endParaRPr lang="en-US"/>
          </a:p>
        </p:txBody>
      </p:sp>
      <p:sp>
        <p:nvSpPr>
          <p:cNvPr id="26" name="card"/>
          <p:cNvSpPr/>
          <p:nvPr/>
        </p:nvSpPr>
        <p:spPr>
          <a:xfrm>
            <a:off x="548640" y="2103120"/>
            <a:ext cx="3593592" cy="310896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1520" y="2212848"/>
            <a:ext cx="3246120" cy="365760"/>
          </a:xfrm>
          <a:prstGeom prst="rect">
            <a:avLst/>
          </a:prstGeom>
          <a:noFill/>
        </p:spPr>
        <p:txBody>
          <a:bodyPr wrap="square" lIns="0" tIns="0" rIns="0" bIns="0" anchor="ctr">
            <a:spAutoFit/>
          </a:bodyPr>
          <a:lstStyle/>
          <a:p>
            <a:pPr algn="l">
              <a:spcAft>
                <a:spcPts val="300"/>
              </a:spcAft>
            </a:pPr>
            <a:r>
              <a:rPr sz="1600" b="1" i="0">
                <a:solidFill>
                  <a:srgbClr val="A42530"/>
                </a:solidFill>
              </a:rPr>
              <a:t>Authentication &amp; access</a:t>
            </a:r>
          </a:p>
        </p:txBody>
      </p:sp>
      <p:sp>
        <p:nvSpPr>
          <p:cNvPr id="28" name="TextBox 27"/>
          <p:cNvSpPr txBox="1"/>
          <p:nvPr/>
        </p:nvSpPr>
        <p:spPr>
          <a:xfrm>
            <a:off x="731520" y="2697480"/>
            <a:ext cx="3246120" cy="2468880"/>
          </a:xfrm>
          <a:prstGeom prst="rect">
            <a:avLst/>
          </a:prstGeom>
          <a:noFill/>
        </p:spPr>
        <p:txBody>
          <a:bodyPr wrap="square" lIns="0" tIns="0" rIns="0" bIns="0" anchor="t">
            <a:spAutoFit/>
          </a:bodyPr>
          <a:lstStyle/>
          <a:p>
            <a:pPr marL="164592" indent="-164592" algn="l">
              <a:spcAft>
                <a:spcPts val="1000"/>
              </a:spcAft>
              <a:buChar char="•"/>
            </a:pPr>
            <a:r>
              <a:rPr sz="1500" b="0" i="0">
                <a:solidFill>
                  <a:srgbClr val="1A1A1A"/>
                </a:solidFill>
              </a:rPr>
              <a:t>bcrypt password hashing</a:t>
            </a:r>
          </a:p>
          <a:p>
            <a:pPr marL="164592" indent="-164592" algn="l">
              <a:spcAft>
                <a:spcPts val="1000"/>
              </a:spcAft>
              <a:buChar char="•"/>
            </a:pPr>
            <a:r>
              <a:rPr sz="1500" b="0" i="0">
                <a:solidFill>
                  <a:srgbClr val="1A1A1A"/>
                </a:solidFill>
              </a:rPr>
              <a:t>Session auth, regenerated on login</a:t>
            </a:r>
          </a:p>
          <a:p>
            <a:pPr marL="164592" indent="-164592" algn="l">
              <a:spcAft>
                <a:spcPts val="1000"/>
              </a:spcAft>
              <a:buChar char="•"/>
            </a:pPr>
            <a:r>
              <a:rPr sz="1500" b="0" i="0">
                <a:solidFill>
                  <a:srgbClr val="1A1A1A"/>
                </a:solidFill>
              </a:rPr>
              <a:t>USER and ADMIN roles</a:t>
            </a:r>
          </a:p>
          <a:p>
            <a:pPr marL="164592" indent="-164592" algn="l">
              <a:spcAft>
                <a:spcPts val="1000"/>
              </a:spcAft>
              <a:buChar char="•"/>
            </a:pPr>
            <a:r>
              <a:rPr sz="1500" b="0" i="0">
                <a:solidFill>
                  <a:srgbClr val="1A1A1A"/>
                </a:solidFill>
              </a:rPr>
              <a:t>Admin-only: mode switch, forensics, evidence</a:t>
            </a:r>
          </a:p>
        </p:txBody>
      </p:sp>
      <p:sp>
        <p:nvSpPr>
          <p:cNvPr id="29" name="card"/>
          <p:cNvSpPr/>
          <p:nvPr/>
        </p:nvSpPr>
        <p:spPr>
          <a:xfrm>
            <a:off x="4297679" y="2103120"/>
            <a:ext cx="3593592" cy="310896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480559" y="2212848"/>
            <a:ext cx="3246120" cy="365760"/>
          </a:xfrm>
          <a:prstGeom prst="rect">
            <a:avLst/>
          </a:prstGeom>
          <a:noFill/>
        </p:spPr>
        <p:txBody>
          <a:bodyPr wrap="square" lIns="0" tIns="0" rIns="0" bIns="0" anchor="ctr">
            <a:spAutoFit/>
          </a:bodyPr>
          <a:lstStyle/>
          <a:p>
            <a:pPr algn="l">
              <a:spcAft>
                <a:spcPts val="300"/>
              </a:spcAft>
            </a:pPr>
            <a:r>
              <a:rPr sz="1600" b="1" i="0">
                <a:solidFill>
                  <a:srgbClr val="1F5FAA"/>
                </a:solidFill>
              </a:rPr>
              <a:t>Request protection</a:t>
            </a:r>
          </a:p>
        </p:txBody>
      </p:sp>
      <p:sp>
        <p:nvSpPr>
          <p:cNvPr id="31" name="TextBox 30"/>
          <p:cNvSpPr txBox="1"/>
          <p:nvPr/>
        </p:nvSpPr>
        <p:spPr>
          <a:xfrm>
            <a:off x="4480559" y="2697480"/>
            <a:ext cx="3246120" cy="2468880"/>
          </a:xfrm>
          <a:prstGeom prst="rect">
            <a:avLst/>
          </a:prstGeom>
          <a:noFill/>
        </p:spPr>
        <p:txBody>
          <a:bodyPr wrap="square" lIns="0" tIns="0" rIns="0" bIns="0" anchor="t">
            <a:spAutoFit/>
          </a:bodyPr>
          <a:lstStyle/>
          <a:p>
            <a:pPr marL="164592" indent="-164592" algn="l">
              <a:spcAft>
                <a:spcPts val="1000"/>
              </a:spcAft>
              <a:buChar char="•"/>
            </a:pPr>
            <a:r>
              <a:rPr sz="1500" b="0" i="0">
                <a:solidFill>
                  <a:srgbClr val="1A1A1A"/>
                </a:solidFill>
              </a:rPr>
              <a:t>Helmet headers + strict CSP</a:t>
            </a:r>
          </a:p>
          <a:p>
            <a:pPr marL="164592" indent="-164592" algn="l">
              <a:spcAft>
                <a:spcPts val="1000"/>
              </a:spcAft>
              <a:buChar char="•"/>
            </a:pPr>
            <a:r>
              <a:rPr sz="1500" b="0" i="0">
                <a:solidFill>
                  <a:srgbClr val="1A1A1A"/>
                </a:solidFill>
              </a:rPr>
              <a:t>CSRF tokens on state-changing requests</a:t>
            </a:r>
          </a:p>
          <a:p>
            <a:pPr marL="164592" indent="-164592" algn="l">
              <a:spcAft>
                <a:spcPts val="1000"/>
              </a:spcAft>
              <a:buChar char="•"/>
            </a:pPr>
            <a:r>
              <a:rPr sz="1500" b="0" i="0">
                <a:solidFill>
                  <a:srgbClr val="1A1A1A"/>
                </a:solidFill>
              </a:rPr>
              <a:t>express-validator on all inputs</a:t>
            </a:r>
          </a:p>
          <a:p>
            <a:pPr marL="164592" indent="-164592" algn="l">
              <a:spcAft>
                <a:spcPts val="1000"/>
              </a:spcAft>
              <a:buChar char="•"/>
            </a:pPr>
            <a:r>
              <a:rPr sz="1500" b="0" i="0">
                <a:solidFill>
                  <a:srgbClr val="1A1A1A"/>
                </a:solidFill>
              </a:rPr>
              <a:t>Rate limiting on login &amp; register</a:t>
            </a:r>
          </a:p>
        </p:txBody>
      </p:sp>
      <p:sp>
        <p:nvSpPr>
          <p:cNvPr id="32" name="card"/>
          <p:cNvSpPr/>
          <p:nvPr/>
        </p:nvSpPr>
        <p:spPr>
          <a:xfrm>
            <a:off x="8046719" y="2103120"/>
            <a:ext cx="3593592" cy="310896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29599" y="2212848"/>
            <a:ext cx="3246120" cy="365760"/>
          </a:xfrm>
          <a:prstGeom prst="rect">
            <a:avLst/>
          </a:prstGeom>
          <a:noFill/>
        </p:spPr>
        <p:txBody>
          <a:bodyPr wrap="square" lIns="0" tIns="0" rIns="0" bIns="0" anchor="ctr">
            <a:spAutoFit/>
          </a:bodyPr>
          <a:lstStyle/>
          <a:p>
            <a:pPr algn="l">
              <a:spcAft>
                <a:spcPts val="300"/>
              </a:spcAft>
            </a:pPr>
            <a:r>
              <a:rPr sz="1600" b="1" i="0">
                <a:solidFill>
                  <a:srgbClr val="3E7D3A"/>
                </a:solidFill>
              </a:rPr>
              <a:t>Database protection</a:t>
            </a:r>
          </a:p>
        </p:txBody>
      </p:sp>
      <p:sp>
        <p:nvSpPr>
          <p:cNvPr id="34" name="TextBox 33"/>
          <p:cNvSpPr txBox="1"/>
          <p:nvPr/>
        </p:nvSpPr>
        <p:spPr>
          <a:xfrm>
            <a:off x="8229599" y="2697480"/>
            <a:ext cx="3246120" cy="2468880"/>
          </a:xfrm>
          <a:prstGeom prst="rect">
            <a:avLst/>
          </a:prstGeom>
          <a:noFill/>
        </p:spPr>
        <p:txBody>
          <a:bodyPr wrap="square" lIns="0" tIns="0" rIns="0" bIns="0" anchor="t">
            <a:spAutoFit/>
          </a:bodyPr>
          <a:lstStyle/>
          <a:p>
            <a:pPr marL="164592" indent="-164592" algn="l">
              <a:spcAft>
                <a:spcPts val="1000"/>
              </a:spcAft>
              <a:buChar char="•"/>
            </a:pPr>
            <a:r>
              <a:rPr sz="1500" b="0" i="0">
                <a:solidFill>
                  <a:srgbClr val="1A1A1A"/>
                </a:solidFill>
              </a:rPr>
              <a:t>Parameterized queries in Safe mode</a:t>
            </a:r>
          </a:p>
          <a:p>
            <a:pPr marL="164592" indent="-164592" algn="l">
              <a:spcAft>
                <a:spcPts val="1000"/>
              </a:spcAft>
              <a:buChar char="•"/>
            </a:pPr>
            <a:r>
              <a:rPr sz="1500" b="0" i="0">
                <a:solidFill>
                  <a:srgbClr val="1A1A1A"/>
                </a:solidFill>
              </a:rPr>
              <a:t>Separate least-privilege role for the vulnerable query</a:t>
            </a:r>
          </a:p>
          <a:p>
            <a:pPr marL="164592" indent="-164592" algn="l">
              <a:spcAft>
                <a:spcPts val="1000"/>
              </a:spcAft>
              <a:buChar char="•"/>
            </a:pPr>
            <a:r>
              <a:rPr sz="1500" b="0" i="0">
                <a:solidFill>
                  <a:srgbClr val="1A1A1A"/>
                </a:solidFill>
              </a:rPr>
              <a:t>Role reads products only — no users table, no writes</a:t>
            </a:r>
          </a:p>
          <a:p>
            <a:pPr marL="164592" indent="-164592" algn="l">
              <a:spcAft>
                <a:spcPts val="1000"/>
              </a:spcAft>
              <a:buChar char="•"/>
            </a:pPr>
            <a:r>
              <a:rPr sz="1500" b="0" i="0">
                <a:solidFill>
                  <a:srgbClr val="1A1A1A"/>
                </a:solidFill>
              </a:rPr>
              <a:t>Request evidence is sanitized before storage</a:t>
            </a:r>
          </a:p>
        </p:txBody>
      </p:sp>
      <p:sp>
        <p:nvSpPr>
          <p:cNvPr id="35" name="callout"/>
          <p:cNvSpPr/>
          <p:nvPr/>
        </p:nvSpPr>
        <p:spPr>
          <a:xfrm>
            <a:off x="548640" y="5376672"/>
            <a:ext cx="11091672" cy="475488"/>
          </a:xfrm>
          <a:prstGeom prst="roundRect">
            <a:avLst>
              <a:gd name="adj" fmla="val 20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77240" y="5376672"/>
            <a:ext cx="10698480" cy="475488"/>
          </a:xfrm>
          <a:prstGeom prst="rect">
            <a:avLst/>
          </a:prstGeom>
          <a:noFill/>
        </p:spPr>
        <p:txBody>
          <a:bodyPr wrap="square" lIns="0" tIns="0" rIns="0" bIns="0" anchor="ctr">
            <a:spAutoFit/>
          </a:bodyPr>
          <a:lstStyle/>
          <a:p>
            <a:pPr algn="l">
              <a:spcAft>
                <a:spcPts val="300"/>
              </a:spcAft>
            </a:pPr>
            <a:r>
              <a:rPr sz="1300" b="1" i="0">
                <a:solidFill>
                  <a:srgbClr val="8A5A00"/>
                </a:solidFill>
              </a:rPr>
              <a:t>Design rule  </a:t>
            </a:r>
            <a:r>
              <a:rPr sz="1300" b="0" i="0">
                <a:solidFill>
                  <a:srgbClr val="1A1A1A"/>
                </a:solidFill>
              </a:rPr>
              <a:t>Vulnerable mode weakens only the control each lab needs — HTTP-only cookies, login and CSRF stay enabled.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5"/>
          </p:nvPr>
        </p:nvSpPr>
        <p:spPr/>
        <p:txBody>
          <a:bodyPr/>
          <a:lstStyle/>
          <a:p>
            <a:r>
              <a:t>06 · MONITORING &amp; DIGITAL FORENSICS</a:t>
            </a:r>
          </a:p>
        </p:txBody>
      </p:sp>
      <p:sp>
        <p:nvSpPr>
          <p:cNvPr id="3" name="Title 2"/>
          <p:cNvSpPr>
            <a:spLocks noGrp="1"/>
          </p:cNvSpPr>
          <p:nvPr>
            <p:ph type="title" idx="106"/>
          </p:nvPr>
        </p:nvSpPr>
        <p:spPr/>
        <p:txBody>
          <a:bodyPr/>
          <a:lstStyle/>
          <a:p>
            <a:r>
              <a:t>From a dashboard number to verified evidence</a:t>
            </a:r>
          </a:p>
        </p:txBody>
      </p:sp>
      <p:sp>
        <p:nvSpPr>
          <p:cNvPr id="4" name="dot"/>
          <p:cNvSpPr/>
          <p:nvPr/>
        </p:nvSpPr>
        <p:spPr>
          <a:xfrm>
            <a:off x="548640" y="1783080"/>
            <a:ext cx="566928" cy="82296"/>
          </a:xfrm>
          <a:prstGeom prst="roundRect">
            <a:avLst>
              <a:gd name="adj" fmla="val 50000"/>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dot"/>
          <p:cNvSpPr/>
          <p:nvPr/>
        </p:nvSpPr>
        <p:spPr>
          <a:xfrm>
            <a:off x="1188720" y="1783080"/>
            <a:ext cx="384048" cy="82296"/>
          </a:xfrm>
          <a:prstGeom prst="roundRect">
            <a:avLst>
              <a:gd name="adj" fmla="val 50000"/>
            </a:avLst>
          </a:prstGeom>
          <a:solidFill>
            <a:srgbClr val="1F5F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dot"/>
          <p:cNvSpPr/>
          <p:nvPr/>
        </p:nvSpPr>
        <p:spPr>
          <a:xfrm>
            <a:off x="1645920" y="1783080"/>
            <a:ext cx="201168" cy="82296"/>
          </a:xfrm>
          <a:prstGeom prst="roundRect">
            <a:avLst>
              <a:gd name="adj" fmla="val 50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Slide Number Placeholder 0"/>
          <p:cNvSpPr>
            <a:spLocks noGrp="1"/>
          </p:cNvSpPr>
          <p:nvPr>
            <p:ph type="sldNum" sz="quarter" idx="4294967295"/>
          </p:nvPr>
        </p:nvSpPr>
        <p:spPr>
          <a:xfrm>
            <a:off x="11247120" y="59893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1"/>
                </a:solidFill>
              </a:defRPr>
            </a:lvl1pPr>
          </a:lstStyle>
          <a:p>
            <a:pPr algn="r"/>
            <a:fld id="{F7021451-1387-4CA6-816F-3879F97B5CBC}" type="slidenum">
              <a:rPr lang="en-US" b="0"/>
              <a:t>7</a:t>
            </a:fld>
            <a:endParaRPr lang="en-US"/>
          </a:p>
        </p:txBody>
      </p:sp>
      <p:sp>
        <p:nvSpPr>
          <p:cNvPr id="26" name="card"/>
          <p:cNvSpPr/>
          <p:nvPr/>
        </p:nvSpPr>
        <p:spPr>
          <a:xfrm>
            <a:off x="548640" y="2103120"/>
            <a:ext cx="3840480" cy="3154680"/>
          </a:xfrm>
          <a:prstGeom prst="roundRect">
            <a:avLst>
              <a:gd name="adj" fmla="val 5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1520" y="2194560"/>
            <a:ext cx="3474720" cy="274320"/>
          </a:xfrm>
          <a:prstGeom prst="rect">
            <a:avLst/>
          </a:prstGeom>
          <a:noFill/>
        </p:spPr>
        <p:txBody>
          <a:bodyPr wrap="square" lIns="0" tIns="0" rIns="0" bIns="0" anchor="ctr">
            <a:spAutoFit/>
          </a:bodyPr>
          <a:lstStyle/>
          <a:p>
            <a:pPr algn="l">
              <a:spcAft>
                <a:spcPts val="300"/>
              </a:spcAft>
            </a:pPr>
            <a:r>
              <a:rPr sz="1200" b="1" i="0">
                <a:solidFill>
                  <a:srgbClr val="5B6B7F"/>
                </a:solidFill>
              </a:rPr>
              <a:t>MONITOR</a:t>
            </a:r>
          </a:p>
        </p:txBody>
      </p:sp>
      <p:sp>
        <p:nvSpPr>
          <p:cNvPr id="28" name="TextBox 27"/>
          <p:cNvSpPr txBox="1"/>
          <p:nvPr/>
        </p:nvSpPr>
        <p:spPr>
          <a:xfrm>
            <a:off x="731520" y="2560320"/>
            <a:ext cx="3474720" cy="2651760"/>
          </a:xfrm>
          <a:prstGeom prst="rect">
            <a:avLst/>
          </a:prstGeom>
          <a:noFill/>
        </p:spPr>
        <p:txBody>
          <a:bodyPr wrap="square" lIns="0" tIns="0" rIns="0" bIns="0" anchor="t">
            <a:spAutoFit/>
          </a:bodyPr>
          <a:lstStyle/>
          <a:p>
            <a:pPr marL="164592" indent="-164592" algn="l">
              <a:spcAft>
                <a:spcPts val="1000"/>
              </a:spcAft>
              <a:buChar char="•"/>
            </a:pPr>
            <a:r>
              <a:rPr sz="1450" b="1" i="0">
                <a:solidFill>
                  <a:srgbClr val="1A1A1A"/>
                </a:solidFill>
              </a:rPr>
              <a:t>Dashboard: </a:t>
            </a:r>
            <a:r>
              <a:rPr sz="1450" b="0" i="0">
                <a:solidFill>
                  <a:srgbClr val="1A1A1A"/>
                </a:solidFill>
              </a:rPr>
              <a:t>requests, events, blocked, critical, attack mix, trend</a:t>
            </a:r>
          </a:p>
          <a:p>
            <a:pPr marL="164592" indent="-164592" algn="l">
              <a:spcAft>
                <a:spcPts val="1000"/>
              </a:spcAft>
              <a:buChar char="•"/>
            </a:pPr>
            <a:r>
              <a:rPr sz="1450" b="1" i="0">
                <a:solidFill>
                  <a:srgbClr val="1A1A1A"/>
                </a:solidFill>
              </a:rPr>
              <a:t>Events table: </a:t>
            </a:r>
            <a:r>
              <a:rPr sz="1450" b="0" i="0">
                <a:solidFill>
                  <a:srgbClr val="1A1A1A"/>
                </a:solidFill>
              </a:rPr>
              <a:t>filter by type, severity, result; search; pages</a:t>
            </a:r>
          </a:p>
          <a:p>
            <a:pPr marL="164592" indent="-164592" algn="l">
              <a:spcAft>
                <a:spcPts val="1000"/>
              </a:spcAft>
              <a:buChar char="•"/>
            </a:pPr>
            <a:r>
              <a:rPr sz="1450" b="1" i="0">
                <a:solidFill>
                  <a:srgbClr val="1A1A1A"/>
                </a:solidFill>
              </a:rPr>
              <a:t>Real data: </a:t>
            </a:r>
            <a:r>
              <a:rPr sz="1450" b="0" i="0">
                <a:solidFill>
                  <a:srgbClr val="1A1A1A"/>
                </a:solidFill>
              </a:rPr>
              <a:t>every metric is a database query</a:t>
            </a:r>
          </a:p>
          <a:p>
            <a:pPr marL="164592" indent="-164592" algn="l">
              <a:spcAft>
                <a:spcPts val="1000"/>
              </a:spcAft>
              <a:buChar char="•"/>
            </a:pPr>
            <a:r>
              <a:rPr sz="1450" b="1" i="0">
                <a:solidFill>
                  <a:srgbClr val="1A1A1A"/>
                </a:solidFill>
              </a:rPr>
              <a:t>One click </a:t>
            </a:r>
            <a:r>
              <a:rPr sz="1450" b="0" i="0">
                <a:solidFill>
                  <a:srgbClr val="1A1A1A"/>
                </a:solidFill>
              </a:rPr>
              <a:t>from a chart to a single incident</a:t>
            </a:r>
          </a:p>
        </p:txBody>
      </p:sp>
      <p:sp>
        <p:nvSpPr>
          <p:cNvPr id="29" name="step"/>
          <p:cNvSpPr/>
          <p:nvPr/>
        </p:nvSpPr>
        <p:spPr>
          <a:xfrm>
            <a:off x="4572000" y="2103120"/>
            <a:ext cx="7068312" cy="713232"/>
          </a:xfrm>
          <a:prstGeom prst="roundRect">
            <a:avLst>
              <a:gd name="adj" fmla="val 12000"/>
            </a:avLst>
          </a:prstGeom>
          <a:solidFill>
            <a:srgbClr val="FFFFFF"/>
          </a:solidFill>
          <a:ln w="12700">
            <a:solidFill>
              <a:srgbClr val="D9D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4709160" y="2258568"/>
            <a:ext cx="402336" cy="402336"/>
          </a:xfrm>
          <a:prstGeom prst="ellipse">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rPr>
              <a:t>1</a:t>
            </a:r>
          </a:p>
        </p:txBody>
      </p:sp>
      <p:sp>
        <p:nvSpPr>
          <p:cNvPr id="31" name="TextBox 30"/>
          <p:cNvSpPr txBox="1"/>
          <p:nvPr/>
        </p:nvSpPr>
        <p:spPr>
          <a:xfrm>
            <a:off x="5257800" y="2157984"/>
            <a:ext cx="1554480" cy="603504"/>
          </a:xfrm>
          <a:prstGeom prst="rect">
            <a:avLst/>
          </a:prstGeom>
          <a:noFill/>
        </p:spPr>
        <p:txBody>
          <a:bodyPr wrap="square" lIns="0" tIns="0" rIns="0" bIns="0" anchor="ctr">
            <a:spAutoFit/>
          </a:bodyPr>
          <a:lstStyle/>
          <a:p>
            <a:pPr algn="l">
              <a:spcAft>
                <a:spcPts val="300"/>
              </a:spcAft>
            </a:pPr>
            <a:r>
              <a:rPr sz="1500" b="1" i="0">
                <a:solidFill>
                  <a:srgbClr val="1A1A1A"/>
                </a:solidFill>
              </a:rPr>
              <a:t>Investigate</a:t>
            </a:r>
          </a:p>
        </p:txBody>
      </p:sp>
      <p:sp>
        <p:nvSpPr>
          <p:cNvPr id="32" name="TextBox 31"/>
          <p:cNvSpPr txBox="1"/>
          <p:nvPr/>
        </p:nvSpPr>
        <p:spPr>
          <a:xfrm>
            <a:off x="6812280" y="2157984"/>
            <a:ext cx="4709160" cy="603504"/>
          </a:xfrm>
          <a:prstGeom prst="rect">
            <a:avLst/>
          </a:prstGeom>
          <a:noFill/>
        </p:spPr>
        <p:txBody>
          <a:bodyPr wrap="square" lIns="0" tIns="0" rIns="0" bIns="0" anchor="ctr">
            <a:spAutoFit/>
          </a:bodyPr>
          <a:lstStyle/>
          <a:p>
            <a:pPr algn="l">
              <a:spcAft>
                <a:spcPts val="300"/>
              </a:spcAft>
            </a:pPr>
            <a:r>
              <a:rPr sz="1250" b="0" i="0">
                <a:solidFill>
                  <a:srgbClr val="1A1A1A"/>
                </a:solidFill>
              </a:rPr>
              <a:t>Incident ID · rule · risk score · sanitized request · timeline · mitigation</a:t>
            </a:r>
          </a:p>
        </p:txBody>
      </p:sp>
      <p:sp>
        <p:nvSpPr>
          <p:cNvPr id="33" name="step"/>
          <p:cNvSpPr/>
          <p:nvPr/>
        </p:nvSpPr>
        <p:spPr>
          <a:xfrm>
            <a:off x="4572000" y="2907791"/>
            <a:ext cx="7068312" cy="713232"/>
          </a:xfrm>
          <a:prstGeom prst="roundRect">
            <a:avLst>
              <a:gd name="adj" fmla="val 12000"/>
            </a:avLst>
          </a:prstGeom>
          <a:solidFill>
            <a:srgbClr val="FFFFFF"/>
          </a:solidFill>
          <a:ln w="12700">
            <a:solidFill>
              <a:srgbClr val="D9D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4709160" y="3063239"/>
            <a:ext cx="402336" cy="402336"/>
          </a:xfrm>
          <a:prstGeom prst="ellipse">
            <a:avLst/>
          </a:prstGeom>
          <a:solidFill>
            <a:srgbClr val="1F5FA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rPr>
              <a:t>2</a:t>
            </a:r>
          </a:p>
        </p:txBody>
      </p:sp>
      <p:sp>
        <p:nvSpPr>
          <p:cNvPr id="35" name="TextBox 34"/>
          <p:cNvSpPr txBox="1"/>
          <p:nvPr/>
        </p:nvSpPr>
        <p:spPr>
          <a:xfrm>
            <a:off x="5257800" y="2962656"/>
            <a:ext cx="1554480" cy="603504"/>
          </a:xfrm>
          <a:prstGeom prst="rect">
            <a:avLst/>
          </a:prstGeom>
          <a:noFill/>
        </p:spPr>
        <p:txBody>
          <a:bodyPr wrap="square" lIns="0" tIns="0" rIns="0" bIns="0" anchor="ctr">
            <a:spAutoFit/>
          </a:bodyPr>
          <a:lstStyle/>
          <a:p>
            <a:pPr algn="l">
              <a:spcAft>
                <a:spcPts val="300"/>
              </a:spcAft>
            </a:pPr>
            <a:r>
              <a:rPr sz="1500" b="1" i="0">
                <a:solidFill>
                  <a:srgbClr val="1A1A1A"/>
                </a:solidFill>
              </a:rPr>
              <a:t>Export</a:t>
            </a:r>
          </a:p>
        </p:txBody>
      </p:sp>
      <p:sp>
        <p:nvSpPr>
          <p:cNvPr id="36" name="TextBox 35"/>
          <p:cNvSpPr txBox="1"/>
          <p:nvPr/>
        </p:nvSpPr>
        <p:spPr>
          <a:xfrm>
            <a:off x="6812280" y="2962656"/>
            <a:ext cx="4709160" cy="603504"/>
          </a:xfrm>
          <a:prstGeom prst="rect">
            <a:avLst/>
          </a:prstGeom>
          <a:noFill/>
        </p:spPr>
        <p:txBody>
          <a:bodyPr wrap="square" lIns="0" tIns="0" rIns="0" bIns="0" anchor="ctr">
            <a:spAutoFit/>
          </a:bodyPr>
          <a:lstStyle/>
          <a:p>
            <a:pPr algn="l">
              <a:spcAft>
                <a:spcPts val="300"/>
              </a:spcAft>
            </a:pPr>
            <a:r>
              <a:rPr sz="1250" b="0" i="0">
                <a:solidFill>
                  <a:srgbClr val="1A1A1A"/>
                </a:solidFill>
              </a:rPr>
              <a:t>Structured JSON evidence package, consistent serialization</a:t>
            </a:r>
          </a:p>
        </p:txBody>
      </p:sp>
      <p:sp>
        <p:nvSpPr>
          <p:cNvPr id="37" name="step"/>
          <p:cNvSpPr/>
          <p:nvPr/>
        </p:nvSpPr>
        <p:spPr>
          <a:xfrm>
            <a:off x="4572000" y="3712463"/>
            <a:ext cx="7068312" cy="713232"/>
          </a:xfrm>
          <a:prstGeom prst="roundRect">
            <a:avLst>
              <a:gd name="adj" fmla="val 12000"/>
            </a:avLst>
          </a:prstGeom>
          <a:solidFill>
            <a:srgbClr val="FFFFFF"/>
          </a:solidFill>
          <a:ln w="12700">
            <a:solidFill>
              <a:srgbClr val="D9D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4709160" y="3867911"/>
            <a:ext cx="402336" cy="402336"/>
          </a:xfrm>
          <a:prstGeom prst="ellipse">
            <a:avLst/>
          </a:prstGeom>
          <a:solidFill>
            <a:srgbClr val="1F5FA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rPr>
              <a:t>3</a:t>
            </a:r>
          </a:p>
        </p:txBody>
      </p:sp>
      <p:sp>
        <p:nvSpPr>
          <p:cNvPr id="39" name="TextBox 38"/>
          <p:cNvSpPr txBox="1"/>
          <p:nvPr/>
        </p:nvSpPr>
        <p:spPr>
          <a:xfrm>
            <a:off x="5257800" y="3767327"/>
            <a:ext cx="1554480" cy="603504"/>
          </a:xfrm>
          <a:prstGeom prst="rect">
            <a:avLst/>
          </a:prstGeom>
          <a:noFill/>
        </p:spPr>
        <p:txBody>
          <a:bodyPr wrap="square" lIns="0" tIns="0" rIns="0" bIns="0" anchor="ctr">
            <a:spAutoFit/>
          </a:bodyPr>
          <a:lstStyle/>
          <a:p>
            <a:pPr algn="l">
              <a:spcAft>
                <a:spcPts val="300"/>
              </a:spcAft>
            </a:pPr>
            <a:r>
              <a:rPr sz="1500" b="1" i="0">
                <a:solidFill>
                  <a:srgbClr val="1A1A1A"/>
                </a:solidFill>
              </a:rPr>
              <a:t>Hash</a:t>
            </a:r>
          </a:p>
        </p:txBody>
      </p:sp>
      <p:sp>
        <p:nvSpPr>
          <p:cNvPr id="40" name="TextBox 39"/>
          <p:cNvSpPr txBox="1"/>
          <p:nvPr/>
        </p:nvSpPr>
        <p:spPr>
          <a:xfrm>
            <a:off x="6812280" y="3767327"/>
            <a:ext cx="4709160" cy="603504"/>
          </a:xfrm>
          <a:prstGeom prst="rect">
            <a:avLst/>
          </a:prstGeom>
          <a:noFill/>
        </p:spPr>
        <p:txBody>
          <a:bodyPr wrap="square" lIns="0" tIns="0" rIns="0" bIns="0" anchor="ctr">
            <a:spAutoFit/>
          </a:bodyPr>
          <a:lstStyle/>
          <a:p>
            <a:pPr algn="l">
              <a:spcAft>
                <a:spcPts val="300"/>
              </a:spcAft>
            </a:pPr>
            <a:r>
              <a:rPr sz="1250" b="0" i="0">
                <a:solidFill>
                  <a:srgbClr val="1A1A1A"/>
                </a:solidFill>
              </a:rPr>
              <a:t>SHA-256 of the exact file; name + hash logged in the action log</a:t>
            </a:r>
          </a:p>
        </p:txBody>
      </p:sp>
      <p:sp>
        <p:nvSpPr>
          <p:cNvPr id="41" name="step"/>
          <p:cNvSpPr/>
          <p:nvPr/>
        </p:nvSpPr>
        <p:spPr>
          <a:xfrm>
            <a:off x="4572000" y="4517136"/>
            <a:ext cx="7068312" cy="713232"/>
          </a:xfrm>
          <a:prstGeom prst="roundRect">
            <a:avLst>
              <a:gd name="adj" fmla="val 12000"/>
            </a:avLst>
          </a:prstGeom>
          <a:solidFill>
            <a:srgbClr val="FFFFFF"/>
          </a:solidFill>
          <a:ln w="12700">
            <a:solidFill>
              <a:srgbClr val="D9D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709160" y="4672583"/>
            <a:ext cx="402336" cy="402336"/>
          </a:xfrm>
          <a:prstGeom prst="ellipse">
            <a:avLst/>
          </a:prstGeom>
          <a:solidFill>
            <a:srgbClr val="3E7D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rPr>
              <a:t>4</a:t>
            </a:r>
          </a:p>
        </p:txBody>
      </p:sp>
      <p:sp>
        <p:nvSpPr>
          <p:cNvPr id="43" name="TextBox 42"/>
          <p:cNvSpPr txBox="1"/>
          <p:nvPr/>
        </p:nvSpPr>
        <p:spPr>
          <a:xfrm>
            <a:off x="5257800" y="4571999"/>
            <a:ext cx="1554480" cy="603504"/>
          </a:xfrm>
          <a:prstGeom prst="rect">
            <a:avLst/>
          </a:prstGeom>
          <a:noFill/>
        </p:spPr>
        <p:txBody>
          <a:bodyPr wrap="square" lIns="0" tIns="0" rIns="0" bIns="0" anchor="ctr">
            <a:spAutoFit/>
          </a:bodyPr>
          <a:lstStyle/>
          <a:p>
            <a:pPr algn="l">
              <a:spcAft>
                <a:spcPts val="300"/>
              </a:spcAft>
            </a:pPr>
            <a:r>
              <a:rPr sz="1500" b="1" i="0">
                <a:solidFill>
                  <a:srgbClr val="1A1A1A"/>
                </a:solidFill>
              </a:rPr>
              <a:t>Verify</a:t>
            </a:r>
          </a:p>
        </p:txBody>
      </p:sp>
      <p:sp>
        <p:nvSpPr>
          <p:cNvPr id="44" name="TextBox 43"/>
          <p:cNvSpPr txBox="1"/>
          <p:nvPr/>
        </p:nvSpPr>
        <p:spPr>
          <a:xfrm>
            <a:off x="6812280" y="4571999"/>
            <a:ext cx="4709160" cy="603504"/>
          </a:xfrm>
          <a:prstGeom prst="rect">
            <a:avLst/>
          </a:prstGeom>
          <a:noFill/>
        </p:spPr>
        <p:txBody>
          <a:bodyPr wrap="square" lIns="0" tIns="0" rIns="0" bIns="0" anchor="ctr">
            <a:spAutoFit/>
          </a:bodyPr>
          <a:lstStyle/>
          <a:p>
            <a:pPr algn="l">
              <a:spcAft>
                <a:spcPts val="300"/>
              </a:spcAft>
            </a:pPr>
            <a:r>
              <a:rPr sz="1250" b="0" i="0">
                <a:solidFill>
                  <a:srgbClr val="1A1A1A"/>
                </a:solidFill>
              </a:rPr>
              <a:t>Upload file → recompute → MATCH or MISMATCH</a:t>
            </a:r>
          </a:p>
        </p:txBody>
      </p:sp>
      <p:sp>
        <p:nvSpPr>
          <p:cNvPr id="45" name="callout"/>
          <p:cNvSpPr/>
          <p:nvPr/>
        </p:nvSpPr>
        <p:spPr>
          <a:xfrm>
            <a:off x="548640" y="5413248"/>
            <a:ext cx="11091672" cy="457200"/>
          </a:xfrm>
          <a:prstGeom prst="roundRect">
            <a:avLst>
              <a:gd name="adj" fmla="val 20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77240" y="5413248"/>
            <a:ext cx="10698480" cy="457200"/>
          </a:xfrm>
          <a:prstGeom prst="rect">
            <a:avLst/>
          </a:prstGeom>
          <a:noFill/>
        </p:spPr>
        <p:txBody>
          <a:bodyPr wrap="square" lIns="0" tIns="0" rIns="0" bIns="0" anchor="ctr">
            <a:spAutoFit/>
          </a:bodyPr>
          <a:lstStyle/>
          <a:p>
            <a:pPr algn="l">
              <a:spcAft>
                <a:spcPts val="300"/>
              </a:spcAft>
            </a:pPr>
            <a:r>
              <a:rPr sz="1300" b="1" i="0">
                <a:solidFill>
                  <a:srgbClr val="8A5A00"/>
                </a:solidFill>
              </a:rPr>
              <a:t>Limit  </a:t>
            </a:r>
            <a:r>
              <a:rPr sz="1300" b="0" i="0">
                <a:solidFill>
                  <a:srgbClr val="1A1A1A"/>
                </a:solidFill>
              </a:rPr>
              <a:t>SHA-256 detects changes to a file; it does not prove authenticity or a complete legal chain of custody.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5"/>
          </p:nvPr>
        </p:nvSpPr>
        <p:spPr/>
        <p:txBody>
          <a:bodyPr/>
          <a:lstStyle/>
          <a:p>
            <a:r>
              <a:t>07 · TESTING, LIMITS &amp; CONCLUSION</a:t>
            </a:r>
          </a:p>
        </p:txBody>
      </p:sp>
      <p:sp>
        <p:nvSpPr>
          <p:cNvPr id="3" name="Title 2"/>
          <p:cNvSpPr>
            <a:spLocks noGrp="1"/>
          </p:cNvSpPr>
          <p:nvPr>
            <p:ph type="title" idx="106"/>
          </p:nvPr>
        </p:nvSpPr>
        <p:spPr/>
        <p:txBody>
          <a:bodyPr/>
          <a:lstStyle/>
          <a:p>
            <a:r>
              <a:t>Record it. Investigate it. Prove it.</a:t>
            </a:r>
          </a:p>
        </p:txBody>
      </p:sp>
      <p:sp>
        <p:nvSpPr>
          <p:cNvPr id="4" name="dot"/>
          <p:cNvSpPr/>
          <p:nvPr/>
        </p:nvSpPr>
        <p:spPr>
          <a:xfrm>
            <a:off x="548640" y="1783080"/>
            <a:ext cx="566928" cy="82296"/>
          </a:xfrm>
          <a:prstGeom prst="roundRect">
            <a:avLst>
              <a:gd name="adj" fmla="val 50000"/>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dot"/>
          <p:cNvSpPr/>
          <p:nvPr/>
        </p:nvSpPr>
        <p:spPr>
          <a:xfrm>
            <a:off x="1188720" y="1783080"/>
            <a:ext cx="384048" cy="82296"/>
          </a:xfrm>
          <a:prstGeom prst="roundRect">
            <a:avLst>
              <a:gd name="adj" fmla="val 50000"/>
            </a:avLst>
          </a:prstGeom>
          <a:solidFill>
            <a:srgbClr val="1F5F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dot"/>
          <p:cNvSpPr/>
          <p:nvPr/>
        </p:nvSpPr>
        <p:spPr>
          <a:xfrm>
            <a:off x="1645920" y="1783080"/>
            <a:ext cx="201168" cy="82296"/>
          </a:xfrm>
          <a:prstGeom prst="roundRect">
            <a:avLst>
              <a:gd name="adj" fmla="val 50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Slide Number Placeholder 0"/>
          <p:cNvSpPr>
            <a:spLocks noGrp="1"/>
          </p:cNvSpPr>
          <p:nvPr>
            <p:ph type="sldNum" sz="quarter" idx="4294967295"/>
          </p:nvPr>
        </p:nvSpPr>
        <p:spPr>
          <a:xfrm>
            <a:off x="11247120" y="59893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tx1"/>
                </a:solidFill>
              </a:defRPr>
            </a:lvl1pPr>
          </a:lstStyle>
          <a:p>
            <a:pPr algn="r"/>
            <a:fld id="{F7021451-1387-4CA6-816F-3879F97B5CBC}" type="slidenum">
              <a:rPr lang="en-US" b="0"/>
              <a:t>8</a:t>
            </a:fld>
            <a:endParaRPr lang="en-US"/>
          </a:p>
        </p:txBody>
      </p:sp>
      <p:sp>
        <p:nvSpPr>
          <p:cNvPr id="26" name="stat"/>
          <p:cNvSpPr/>
          <p:nvPr/>
        </p:nvSpPr>
        <p:spPr>
          <a:xfrm>
            <a:off x="548640" y="2103120"/>
            <a:ext cx="1719072" cy="1417320"/>
          </a:xfrm>
          <a:prstGeom prst="roundRect">
            <a:avLst>
              <a:gd name="adj" fmla="val 8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8640" y="2176272"/>
            <a:ext cx="1719072" cy="685800"/>
          </a:xfrm>
          <a:prstGeom prst="rect">
            <a:avLst/>
          </a:prstGeom>
          <a:noFill/>
        </p:spPr>
        <p:txBody>
          <a:bodyPr wrap="square" lIns="0" tIns="0" rIns="0" bIns="0" anchor="ctr">
            <a:spAutoFit/>
          </a:bodyPr>
          <a:lstStyle/>
          <a:p>
            <a:pPr algn="ctr">
              <a:spcAft>
                <a:spcPts val="300"/>
              </a:spcAft>
            </a:pPr>
            <a:r>
              <a:rPr sz="4000" b="1" i="0">
                <a:solidFill>
                  <a:srgbClr val="A42530"/>
                </a:solidFill>
              </a:rPr>
              <a:t>37</a:t>
            </a:r>
          </a:p>
        </p:txBody>
      </p:sp>
      <p:sp>
        <p:nvSpPr>
          <p:cNvPr id="28" name="TextBox 27"/>
          <p:cNvSpPr txBox="1"/>
          <p:nvPr/>
        </p:nvSpPr>
        <p:spPr>
          <a:xfrm>
            <a:off x="621792" y="2852928"/>
            <a:ext cx="1572768" cy="274320"/>
          </a:xfrm>
          <a:prstGeom prst="rect">
            <a:avLst/>
          </a:prstGeom>
          <a:noFill/>
        </p:spPr>
        <p:txBody>
          <a:bodyPr wrap="square" lIns="0" tIns="0" rIns="0" bIns="0" anchor="t">
            <a:spAutoFit/>
          </a:bodyPr>
          <a:lstStyle/>
          <a:p>
            <a:pPr algn="ctr">
              <a:spcAft>
                <a:spcPts val="300"/>
              </a:spcAft>
            </a:pPr>
            <a:r>
              <a:rPr sz="1250" b="1" i="0">
                <a:solidFill>
                  <a:srgbClr val="1A1A1A"/>
                </a:solidFill>
              </a:rPr>
              <a:t>detector cases</a:t>
            </a:r>
          </a:p>
        </p:txBody>
      </p:sp>
      <p:sp>
        <p:nvSpPr>
          <p:cNvPr id="29" name="TextBox 28"/>
          <p:cNvSpPr txBox="1"/>
          <p:nvPr/>
        </p:nvSpPr>
        <p:spPr>
          <a:xfrm>
            <a:off x="621792" y="3127248"/>
            <a:ext cx="1572768" cy="365760"/>
          </a:xfrm>
          <a:prstGeom prst="rect">
            <a:avLst/>
          </a:prstGeom>
          <a:noFill/>
        </p:spPr>
        <p:txBody>
          <a:bodyPr wrap="square" lIns="0" tIns="0" rIns="0" bIns="0" anchor="t">
            <a:spAutoFit/>
          </a:bodyPr>
          <a:lstStyle/>
          <a:p>
            <a:pPr algn="ctr">
              <a:spcAft>
                <a:spcPts val="300"/>
              </a:spcAft>
            </a:pPr>
            <a:r>
              <a:rPr sz="1050" b="0" i="0">
                <a:solidFill>
                  <a:srgbClr val="5B6B7F"/>
                </a:solidFill>
              </a:rPr>
              <a:t>incl. false-positive checks</a:t>
            </a:r>
          </a:p>
        </p:txBody>
      </p:sp>
      <p:sp>
        <p:nvSpPr>
          <p:cNvPr id="30" name="stat"/>
          <p:cNvSpPr/>
          <p:nvPr/>
        </p:nvSpPr>
        <p:spPr>
          <a:xfrm>
            <a:off x="2377440" y="2103120"/>
            <a:ext cx="1719072" cy="1417320"/>
          </a:xfrm>
          <a:prstGeom prst="roundRect">
            <a:avLst>
              <a:gd name="adj" fmla="val 8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377440" y="2176272"/>
            <a:ext cx="1719072" cy="685800"/>
          </a:xfrm>
          <a:prstGeom prst="rect">
            <a:avLst/>
          </a:prstGeom>
          <a:noFill/>
        </p:spPr>
        <p:txBody>
          <a:bodyPr wrap="square" lIns="0" tIns="0" rIns="0" bIns="0" anchor="ctr">
            <a:spAutoFit/>
          </a:bodyPr>
          <a:lstStyle/>
          <a:p>
            <a:pPr algn="ctr">
              <a:spcAft>
                <a:spcPts val="300"/>
              </a:spcAft>
            </a:pPr>
            <a:r>
              <a:rPr sz="4000" b="1" i="0">
                <a:solidFill>
                  <a:srgbClr val="1F5FAA"/>
                </a:solidFill>
              </a:rPr>
              <a:t>20</a:t>
            </a:r>
          </a:p>
        </p:txBody>
      </p:sp>
      <p:sp>
        <p:nvSpPr>
          <p:cNvPr id="32" name="TextBox 31"/>
          <p:cNvSpPr txBox="1"/>
          <p:nvPr/>
        </p:nvSpPr>
        <p:spPr>
          <a:xfrm>
            <a:off x="2450592" y="2852928"/>
            <a:ext cx="1572768" cy="274320"/>
          </a:xfrm>
          <a:prstGeom prst="rect">
            <a:avLst/>
          </a:prstGeom>
          <a:noFill/>
        </p:spPr>
        <p:txBody>
          <a:bodyPr wrap="square" lIns="0" tIns="0" rIns="0" bIns="0" anchor="t">
            <a:spAutoFit/>
          </a:bodyPr>
          <a:lstStyle/>
          <a:p>
            <a:pPr algn="ctr">
              <a:spcAft>
                <a:spcPts val="300"/>
              </a:spcAft>
            </a:pPr>
            <a:r>
              <a:rPr sz="1250" b="1" i="0">
                <a:solidFill>
                  <a:srgbClr val="1A1A1A"/>
                </a:solidFill>
              </a:rPr>
              <a:t>risk-score checks</a:t>
            </a:r>
          </a:p>
        </p:txBody>
      </p:sp>
      <p:sp>
        <p:nvSpPr>
          <p:cNvPr id="33" name="TextBox 32"/>
          <p:cNvSpPr txBox="1"/>
          <p:nvPr/>
        </p:nvSpPr>
        <p:spPr>
          <a:xfrm>
            <a:off x="2450592" y="3127248"/>
            <a:ext cx="1572768" cy="365760"/>
          </a:xfrm>
          <a:prstGeom prst="rect">
            <a:avLst/>
          </a:prstGeom>
          <a:noFill/>
        </p:spPr>
        <p:txBody>
          <a:bodyPr wrap="square" lIns="0" tIns="0" rIns="0" bIns="0" anchor="t">
            <a:spAutoFit/>
          </a:bodyPr>
          <a:lstStyle/>
          <a:p>
            <a:pPr algn="ctr">
              <a:spcAft>
                <a:spcPts val="300"/>
              </a:spcAft>
            </a:pPr>
            <a:r>
              <a:rPr sz="1050" b="0" i="0">
                <a:solidFill>
                  <a:srgbClr val="5B6B7F"/>
                </a:solidFill>
              </a:rPr>
              <a:t>bands &amp; boundaries</a:t>
            </a:r>
          </a:p>
        </p:txBody>
      </p:sp>
      <p:sp>
        <p:nvSpPr>
          <p:cNvPr id="34" name="stat"/>
          <p:cNvSpPr/>
          <p:nvPr/>
        </p:nvSpPr>
        <p:spPr>
          <a:xfrm>
            <a:off x="4206240" y="2103120"/>
            <a:ext cx="1719072" cy="1417320"/>
          </a:xfrm>
          <a:prstGeom prst="roundRect">
            <a:avLst>
              <a:gd name="adj" fmla="val 8000"/>
            </a:avLst>
          </a:prstGeom>
          <a:solidFill>
            <a:srgbClr val="F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206240" y="2176272"/>
            <a:ext cx="1719072" cy="685800"/>
          </a:xfrm>
          <a:prstGeom prst="rect">
            <a:avLst/>
          </a:prstGeom>
          <a:noFill/>
        </p:spPr>
        <p:txBody>
          <a:bodyPr wrap="square" lIns="0" tIns="0" rIns="0" bIns="0" anchor="ctr">
            <a:spAutoFit/>
          </a:bodyPr>
          <a:lstStyle/>
          <a:p>
            <a:pPr algn="ctr">
              <a:spcAft>
                <a:spcPts val="300"/>
              </a:spcAft>
            </a:pPr>
            <a:r>
              <a:rPr sz="4000" b="1" i="0">
                <a:solidFill>
                  <a:srgbClr val="3E7D3A"/>
                </a:solidFill>
              </a:rPr>
              <a:t>26</a:t>
            </a:r>
          </a:p>
        </p:txBody>
      </p:sp>
      <p:sp>
        <p:nvSpPr>
          <p:cNvPr id="36" name="TextBox 35"/>
          <p:cNvSpPr txBox="1"/>
          <p:nvPr/>
        </p:nvSpPr>
        <p:spPr>
          <a:xfrm>
            <a:off x="4279392" y="2852928"/>
            <a:ext cx="1572768" cy="274320"/>
          </a:xfrm>
          <a:prstGeom prst="rect">
            <a:avLst/>
          </a:prstGeom>
          <a:noFill/>
        </p:spPr>
        <p:txBody>
          <a:bodyPr wrap="square" lIns="0" tIns="0" rIns="0" bIns="0" anchor="t">
            <a:spAutoFit/>
          </a:bodyPr>
          <a:lstStyle/>
          <a:p>
            <a:pPr algn="ctr">
              <a:spcAft>
                <a:spcPts val="300"/>
              </a:spcAft>
            </a:pPr>
            <a:r>
              <a:rPr sz="1250" b="1" i="0">
                <a:solidFill>
                  <a:srgbClr val="1A1A1A"/>
                </a:solidFill>
              </a:rPr>
              <a:t>acceptance checks</a:t>
            </a:r>
          </a:p>
        </p:txBody>
      </p:sp>
      <p:sp>
        <p:nvSpPr>
          <p:cNvPr id="37" name="TextBox 36"/>
          <p:cNvSpPr txBox="1"/>
          <p:nvPr/>
        </p:nvSpPr>
        <p:spPr>
          <a:xfrm>
            <a:off x="4279392" y="3127248"/>
            <a:ext cx="1572768" cy="365760"/>
          </a:xfrm>
          <a:prstGeom prst="rect">
            <a:avLst/>
          </a:prstGeom>
          <a:noFill/>
        </p:spPr>
        <p:txBody>
          <a:bodyPr wrap="square" lIns="0" tIns="0" rIns="0" bIns="0" anchor="t">
            <a:spAutoFit/>
          </a:bodyPr>
          <a:lstStyle/>
          <a:p>
            <a:pPr algn="ctr">
              <a:spcAft>
                <a:spcPts val="300"/>
              </a:spcAft>
            </a:pPr>
            <a:r>
              <a:rPr sz="1050" b="0" i="0">
                <a:solidFill>
                  <a:srgbClr val="5B6B7F"/>
                </a:solidFill>
              </a:rPr>
              <a:t>end-to-end on live HTTP</a:t>
            </a:r>
          </a:p>
        </p:txBody>
      </p:sp>
      <p:sp>
        <p:nvSpPr>
          <p:cNvPr id="38" name="limits"/>
          <p:cNvSpPr/>
          <p:nvPr/>
        </p:nvSpPr>
        <p:spPr>
          <a:xfrm>
            <a:off x="548640" y="3703320"/>
            <a:ext cx="5376672" cy="2148840"/>
          </a:xfrm>
          <a:prstGeom prst="roundRect">
            <a:avLst>
              <a:gd name="adj" fmla="val 5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31520" y="3767328"/>
            <a:ext cx="5029200" cy="274320"/>
          </a:xfrm>
          <a:prstGeom prst="rect">
            <a:avLst/>
          </a:prstGeom>
          <a:noFill/>
        </p:spPr>
        <p:txBody>
          <a:bodyPr wrap="square" lIns="0" tIns="0" rIns="0" bIns="0" anchor="ctr">
            <a:spAutoFit/>
          </a:bodyPr>
          <a:lstStyle/>
          <a:p>
            <a:pPr algn="l">
              <a:spcAft>
                <a:spcPts val="300"/>
              </a:spcAft>
            </a:pPr>
            <a:r>
              <a:rPr sz="1200" b="1" i="0">
                <a:solidFill>
                  <a:srgbClr val="8A5A00"/>
                </a:solidFill>
              </a:rPr>
              <a:t>HONEST LIMITS</a:t>
            </a:r>
          </a:p>
        </p:txBody>
      </p:sp>
      <p:sp>
        <p:nvSpPr>
          <p:cNvPr id="40" name="TextBox 39"/>
          <p:cNvSpPr txBox="1"/>
          <p:nvPr/>
        </p:nvSpPr>
        <p:spPr>
          <a:xfrm>
            <a:off x="731520" y="4096512"/>
            <a:ext cx="5029200" cy="1737360"/>
          </a:xfrm>
          <a:prstGeom prst="rect">
            <a:avLst/>
          </a:prstGeom>
          <a:noFill/>
        </p:spPr>
        <p:txBody>
          <a:bodyPr wrap="square" lIns="0" tIns="0" rIns="0" bIns="0" anchor="t">
            <a:spAutoFit/>
          </a:bodyPr>
          <a:lstStyle/>
          <a:p>
            <a:pPr marL="164592" indent="-164592" algn="l">
              <a:spcAft>
                <a:spcPts val="800"/>
              </a:spcAft>
              <a:buChar char="•"/>
            </a:pPr>
            <a:r>
              <a:rPr sz="1400" b="0" i="0">
                <a:solidFill>
                  <a:srgbClr val="1A1A1A"/>
                </a:solidFill>
              </a:rPr>
              <a:t>Regex rules can be evaded — a teaching detector, not a WAF</a:t>
            </a:r>
          </a:p>
          <a:p>
            <a:pPr marL="164592" indent="-164592" algn="l">
              <a:spcAft>
                <a:spcPts val="800"/>
              </a:spcAft>
              <a:buChar char="•"/>
            </a:pPr>
            <a:r>
              <a:rPr sz="1400" b="0" i="0">
                <a:solidFill>
                  <a:srgbClr val="1A1A1A"/>
                </a:solidFill>
              </a:rPr>
              <a:t>Custom risk score, not CVSS</a:t>
            </a:r>
          </a:p>
          <a:p>
            <a:pPr marL="164592" indent="-164592" algn="l">
              <a:spcAft>
                <a:spcPts val="800"/>
              </a:spcAft>
              <a:buChar char="•"/>
            </a:pPr>
            <a:r>
              <a:rPr sz="1400" b="0" i="0">
                <a:solidFill>
                  <a:srgbClr val="1A1A1A"/>
                </a:solidFill>
              </a:rPr>
              <a:t>Local educational use — not a production IDS</a:t>
            </a:r>
          </a:p>
          <a:p>
            <a:pPr marL="164592" indent="-164592" algn="l">
              <a:spcAft>
                <a:spcPts val="800"/>
              </a:spcAft>
              <a:buChar char="•"/>
            </a:pPr>
            <a:r>
              <a:rPr sz="1400" b="0" i="0">
                <a:solidFill>
                  <a:srgbClr val="1A1A1A"/>
                </a:solidFill>
              </a:rPr>
              <a:t>SHA-256 = integrity, not chain of custody</a:t>
            </a:r>
          </a:p>
        </p:txBody>
      </p:sp>
      <p:sp>
        <p:nvSpPr>
          <p:cNvPr id="41" name="conclusion"/>
          <p:cNvSpPr/>
          <p:nvPr/>
        </p:nvSpPr>
        <p:spPr>
          <a:xfrm>
            <a:off x="6126480" y="2103120"/>
            <a:ext cx="5513832" cy="3749039"/>
          </a:xfrm>
          <a:prstGeom prst="roundRect">
            <a:avLst>
              <a:gd name="adj" fmla="val 4000"/>
            </a:avLst>
          </a:prstGeom>
          <a:solidFill>
            <a:srgbClr val="A42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00800" y="2240280"/>
            <a:ext cx="4937760" cy="274320"/>
          </a:xfrm>
          <a:prstGeom prst="rect">
            <a:avLst/>
          </a:prstGeom>
          <a:noFill/>
        </p:spPr>
        <p:txBody>
          <a:bodyPr wrap="square" lIns="0" tIns="0" rIns="0" bIns="0" anchor="ctr">
            <a:spAutoFit/>
          </a:bodyPr>
          <a:lstStyle/>
          <a:p>
            <a:pPr algn="l">
              <a:spcAft>
                <a:spcPts val="300"/>
              </a:spcAft>
            </a:pPr>
            <a:r>
              <a:rPr sz="1200" b="1" i="0">
                <a:solidFill>
                  <a:srgbClr val="F3D0D3"/>
                </a:solidFill>
              </a:rPr>
              <a:t>CONCLUSION</a:t>
            </a:r>
          </a:p>
        </p:txBody>
      </p:sp>
      <p:sp>
        <p:nvSpPr>
          <p:cNvPr id="43" name="TextBox 42"/>
          <p:cNvSpPr txBox="1"/>
          <p:nvPr/>
        </p:nvSpPr>
        <p:spPr>
          <a:xfrm>
            <a:off x="6400800" y="2606040"/>
            <a:ext cx="4983480" cy="1600200"/>
          </a:xfrm>
          <a:prstGeom prst="rect">
            <a:avLst/>
          </a:prstGeom>
          <a:noFill/>
        </p:spPr>
        <p:txBody>
          <a:bodyPr wrap="square" lIns="0" tIns="0" rIns="0" bIns="0" anchor="t">
            <a:spAutoFit/>
          </a:bodyPr>
          <a:lstStyle/>
          <a:p>
            <a:pPr algn="l">
              <a:lnSpc>
                <a:spcPct val="100000"/>
              </a:lnSpc>
              <a:spcAft>
                <a:spcPts val="300"/>
              </a:spcAft>
            </a:pPr>
            <a:r>
              <a:rPr sz="2300" b="1" i="0">
                <a:solidFill>
                  <a:srgbClr val="FFFFFF"/>
                </a:solidFill>
              </a:rPr>
              <a:t>A security incident should not end when an attack is detected.</a:t>
            </a:r>
          </a:p>
        </p:txBody>
      </p:sp>
      <p:sp>
        <p:nvSpPr>
          <p:cNvPr id="44" name="TextBox 43"/>
          <p:cNvSpPr txBox="1"/>
          <p:nvPr/>
        </p:nvSpPr>
        <p:spPr>
          <a:xfrm>
            <a:off x="6400800" y="3977639"/>
            <a:ext cx="4983480" cy="731520"/>
          </a:xfrm>
          <a:prstGeom prst="rect">
            <a:avLst/>
          </a:prstGeom>
          <a:noFill/>
        </p:spPr>
        <p:txBody>
          <a:bodyPr wrap="square" lIns="0" tIns="0" rIns="0" bIns="0" anchor="t">
            <a:spAutoFit/>
          </a:bodyPr>
          <a:lstStyle/>
          <a:p>
            <a:pPr algn="l">
              <a:spcAft>
                <a:spcPts val="300"/>
              </a:spcAft>
            </a:pPr>
            <a:r>
              <a:rPr sz="1400" b="0" i="0">
                <a:solidFill>
                  <a:srgbClr val="FFFFFF"/>
                </a:solidFill>
              </a:rPr>
              <a:t>Record it · Investigate it · Mitigate it · Verify it — a repeatable workflow.</a:t>
            </a:r>
          </a:p>
        </p:txBody>
      </p:sp>
      <p:sp>
        <p:nvSpPr>
          <p:cNvPr id="45" name="TextBox 44"/>
          <p:cNvSpPr txBox="1"/>
          <p:nvPr/>
        </p:nvSpPr>
        <p:spPr>
          <a:xfrm>
            <a:off x="6400800" y="4800600"/>
            <a:ext cx="4983480" cy="457200"/>
          </a:xfrm>
          <a:prstGeom prst="rect">
            <a:avLst/>
          </a:prstGeom>
          <a:noFill/>
        </p:spPr>
        <p:txBody>
          <a:bodyPr wrap="square" lIns="0" tIns="0" rIns="0" bIns="0" anchor="t">
            <a:spAutoFit/>
          </a:bodyPr>
          <a:lstStyle/>
          <a:p>
            <a:pPr algn="l">
              <a:spcAft>
                <a:spcPts val="300"/>
              </a:spcAft>
            </a:pPr>
            <a:r>
              <a:rPr sz="1150" b="1" i="0">
                <a:solidFill>
                  <a:srgbClr val="F3D0D3"/>
                </a:solidFill>
              </a:rPr>
              <a:t>Next: </a:t>
            </a:r>
            <a:r>
              <a:rPr sz="1150" b="0" i="0">
                <a:solidFill>
                  <a:srgbClr val="F3D0D3"/>
                </a:solidFill>
              </a:rPr>
              <a:t>more vuln classes · richer rules · regression automation · stronger evidence provenance</a:t>
            </a:r>
          </a:p>
        </p:txBody>
      </p:sp>
      <p:sp>
        <p:nvSpPr>
          <p:cNvPr id="46" name="TextBox 45"/>
          <p:cNvSpPr txBox="1"/>
          <p:nvPr/>
        </p:nvSpPr>
        <p:spPr>
          <a:xfrm>
            <a:off x="6400800" y="5321808"/>
            <a:ext cx="4983480" cy="411480"/>
          </a:xfrm>
          <a:prstGeom prst="rect">
            <a:avLst/>
          </a:prstGeom>
          <a:noFill/>
        </p:spPr>
        <p:txBody>
          <a:bodyPr wrap="square" lIns="0" tIns="0" rIns="0" bIns="0" anchor="ctr">
            <a:spAutoFit/>
          </a:bodyPr>
          <a:lstStyle/>
          <a:p>
            <a:pPr algn="l">
              <a:spcAft>
                <a:spcPts val="300"/>
              </a:spcAft>
            </a:pPr>
            <a:r>
              <a:rPr sz="1700" b="1" i="0">
                <a:solidFill>
                  <a:srgbClr val="FFFFFF"/>
                </a:solidFill>
              </a:rPr>
              <a:t>Thank you — questions?</a:t>
            </a:r>
          </a:p>
        </p:txBody>
      </p:sp>
    </p:spTree>
  </p:cSld>
  <p:clrMapOvr>
    <a:masterClrMapping/>
  </p:clrMapOvr>
</p:sld>
</file>

<file path=ppt/theme/theme1.xml><?xml version="1.0" encoding="utf-8"?>
<a:theme xmlns:a="http://schemas.openxmlformats.org/drawingml/2006/main" name="SentinelX">
  <a:themeElements>
    <a:clrScheme name="SentinelX">
      <a:dk1>
        <a:srgbClr val="1A1A1A"/>
      </a:dk1>
      <a:lt1>
        <a:srgbClr val="FFFFFF"/>
      </a:lt1>
      <a:dk2>
        <a:srgbClr val="2B2F36"/>
      </a:dk2>
      <a:lt2>
        <a:srgbClr val="F4F1EE"/>
      </a:lt2>
      <a:accent1>
        <a:srgbClr val="A42530"/>
      </a:accent1>
      <a:accent2>
        <a:srgbClr val="1F5FAA"/>
      </a:accent2>
      <a:accent3>
        <a:srgbClr val="3E7D3A"/>
      </a:accent3>
      <a:accent4>
        <a:srgbClr val="E8A33D"/>
      </a:accent4>
      <a:accent5>
        <a:srgbClr val="DA222A"/>
      </a:accent5>
      <a:accent6>
        <a:srgbClr val="5B6B7F"/>
      </a:accent6>
      <a:hlink>
        <a:srgbClr val="1F5FAA"/>
      </a:hlink>
      <a:folHlink>
        <a:srgbClr val="5B6B7F"/>
      </a:folHlink>
    </a:clrScheme>
    <a:fontScheme name="SentinelX">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TotalTime>
  <Words>2385</Words>
  <Application>Microsoft Office PowerPoint</Application>
  <PresentationFormat>Widescreen</PresentationFormat>
  <Paragraphs>206</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SentinelX</vt:lpstr>
      <vt:lpstr>PowerPoint Presentation</vt:lpstr>
      <vt:lpstr>Exploiting is half the story — proof is the rest</vt:lpstr>
      <vt:lpstr>One request, five layers, one source of truth</vt:lpstr>
      <vt:lpstr>Three real flaws — each with its fix one switch away</vt:lpstr>
      <vt:lpstr>Nine transparent rules turn an attack into a scored event</vt:lpstr>
      <vt:lpstr>Only the flaw is weakened — everything else stays on</vt:lpstr>
      <vt:lpstr>From a dashboard number to verified evidence</vt:lpstr>
      <vt:lpstr>Record it. Investigate it. Prove it.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Sentinel-X — AI-Powered Application Security Platform</dc:title>
  <dc:subject>PptxGenJS Presentation</dc:subject>
  <dc:creator>Arnav Mahajan, Rajen Patel, Arijit Swaminathan</dc:creator>
  <cp:lastModifiedBy>Aayush R</cp:lastModifiedBy>
  <cp:revision>10</cp:revision>
  <dcterms:created xsi:type="dcterms:W3CDTF">2026-10-13T20:07:44Z</dcterms:created>
  <dcterms:modified xsi:type="dcterms:W3CDTF">2026-10-17T16:26:23Z</dcterms:modified>
</cp:coreProperties>
</file>